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62" r:id="rId3"/>
    <p:sldId id="263" r:id="rId4"/>
    <p:sldId id="264" r:id="rId5"/>
    <p:sldId id="266" r:id="rId6"/>
    <p:sldId id="267" r:id="rId7"/>
    <p:sldId id="269" r:id="rId8"/>
    <p:sldId id="268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71" r:id="rId23"/>
    <p:sldId id="285" r:id="rId24"/>
  </p:sldIdLst>
  <p:sldSz cx="12192000" cy="6858000"/>
  <p:notesSz cx="6858000" cy="12192000"/>
  <p:embeddedFontLst>
    <p:embeddedFont>
      <p:font typeface="Arial Black" panose="020B0A04020102020204" pitchFamily="34" charset="0"/>
      <p:bold r:id="rId26"/>
    </p:embeddedFont>
    <p:embeddedFont>
      <p:font typeface="Arial Rounded MT Bold" panose="020F0704030504030204" pitchFamily="34" charset="0"/>
      <p:regular r:id="rId27"/>
    </p:embeddedFont>
    <p:embeddedFont>
      <p:font typeface="Artifakt Element Heavy" panose="020B0B03050000020004" pitchFamily="34" charset="0"/>
      <p:bold r:id="rId28"/>
      <p:boldItalic r:id="rId29"/>
    </p:embeddedFont>
  </p:embeddedFont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90121A-8748-44DC-B476-897750F9EB8F}" v="2" dt="2026-10-05T09:41:47.327"/>
  </p1510:revLst>
</p1510:revInfo>
</file>

<file path=ppt/tableStyles.xml><?xml version="1.0" encoding="utf-8"?>
<a:tblStyleLst xmlns:a="http://schemas.openxmlformats.org/drawingml/2006/main" def="{5C22544A-7EE6-4342-B048-85BDC9FD1C3A}">
  <a:tblStyle styleId="{42F484E2-D13C-4198-809A-BEC5E46278DC}" styleName="Style 3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accent1"/>
              </a:solidFill>
            </a:ln>
          </a:left>
          <a:right>
            <a:ln w="12700">
              <a:solidFill>
                <a:schemeClr val="accent1"/>
              </a:solidFill>
            </a:ln>
          </a:right>
          <a:top>
            <a:ln w="12700">
              <a:solidFill>
                <a:schemeClr val="accent1"/>
              </a:solidFill>
            </a:ln>
          </a:top>
          <a:bottom>
            <a:ln w="12700">
              <a:solidFill>
                <a:schemeClr val="accent1"/>
              </a:solidFill>
            </a:ln>
          </a:bottom>
          <a:insideH>
            <a:ln w="12700">
              <a:solidFill>
                <a:schemeClr val="accent1"/>
              </a:solidFill>
            </a:ln>
          </a:insideH>
          <a:insideV>
            <a:ln w="12700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19999"/>
            </a:schemeClr>
          </a:solidFill>
        </a:fill>
      </a:tcStyle>
    </a:band1H>
    <a:band1V>
      <a:tcStyle>
        <a:tcBdr/>
        <a:fill>
          <a:solidFill>
            <a:schemeClr val="accent1">
              <a:alpha val="19999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rsh siddharth." userId="da10689b4aa3e685" providerId="LiveId" clId="{7A0526DF-9BB2-4B0E-A75A-58AE8AE80117}"/>
    <pc:docChg chg="undo custSel addSld delSld modSld">
      <pc:chgData name="Adarsh siddharth." userId="da10689b4aa3e685" providerId="LiveId" clId="{7A0526DF-9BB2-4B0E-A75A-58AE8AE80117}" dt="2026-10-05T09:45:59.288" v="140" actId="1076"/>
      <pc:docMkLst>
        <pc:docMk/>
      </pc:docMkLst>
      <pc:sldChg chg="modSp mod">
        <pc:chgData name="Adarsh siddharth." userId="da10689b4aa3e685" providerId="LiveId" clId="{7A0526DF-9BB2-4B0E-A75A-58AE8AE80117}" dt="2026-10-05T09:10:24.294" v="113" actId="20577"/>
        <pc:sldMkLst>
          <pc:docMk/>
          <pc:sldMk cId="0" sldId="256"/>
        </pc:sldMkLst>
        <pc:spChg chg="mod">
          <ac:chgData name="Adarsh siddharth." userId="da10689b4aa3e685" providerId="LiveId" clId="{7A0526DF-9BB2-4B0E-A75A-58AE8AE80117}" dt="2026-10-05T09:10:24.294" v="113" actId="20577"/>
          <ac:spMkLst>
            <pc:docMk/>
            <pc:sldMk cId="0" sldId="256"/>
            <ac:spMk id="5" creationId="{5D6DD86F-65AE-1580-0759-771D6EA7D8B5}"/>
          </ac:spMkLst>
        </pc:spChg>
      </pc:sldChg>
      <pc:sldChg chg="del">
        <pc:chgData name="Adarsh siddharth." userId="da10689b4aa3e685" providerId="LiveId" clId="{7A0526DF-9BB2-4B0E-A75A-58AE8AE80117}" dt="2026-10-05T09:42:42.778" v="127" actId="47"/>
        <pc:sldMkLst>
          <pc:docMk/>
          <pc:sldMk cId="615314539" sldId="270"/>
        </pc:sldMkLst>
      </pc:sldChg>
      <pc:sldChg chg="addSp delSp modSp mod">
        <pc:chgData name="Adarsh siddharth." userId="da10689b4aa3e685" providerId="LiveId" clId="{7A0526DF-9BB2-4B0E-A75A-58AE8AE80117}" dt="2026-10-05T09:40:57.063" v="121" actId="1076"/>
        <pc:sldMkLst>
          <pc:docMk/>
          <pc:sldMk cId="3827278324" sldId="271"/>
        </pc:sldMkLst>
        <pc:spChg chg="add mod">
          <ac:chgData name="Adarsh siddharth." userId="da10689b4aa3e685" providerId="LiveId" clId="{7A0526DF-9BB2-4B0E-A75A-58AE8AE80117}" dt="2026-10-05T09:40:33.800" v="114" actId="478"/>
          <ac:spMkLst>
            <pc:docMk/>
            <pc:sldMk cId="3827278324" sldId="271"/>
            <ac:spMk id="3" creationId="{43098FFC-4521-187D-DD71-35F1B5453EEB}"/>
          </ac:spMkLst>
        </pc:spChg>
        <pc:picChg chg="del">
          <ac:chgData name="Adarsh siddharth." userId="da10689b4aa3e685" providerId="LiveId" clId="{7A0526DF-9BB2-4B0E-A75A-58AE8AE80117}" dt="2026-10-05T09:40:33.800" v="114" actId="478"/>
          <ac:picMkLst>
            <pc:docMk/>
            <pc:sldMk cId="3827278324" sldId="271"/>
            <ac:picMk id="4" creationId="{A651AF5A-7B49-8017-B9D2-3DAE7B430677}"/>
          </ac:picMkLst>
        </pc:picChg>
        <pc:picChg chg="add mod">
          <ac:chgData name="Adarsh siddharth." userId="da10689b4aa3e685" providerId="LiveId" clId="{7A0526DF-9BB2-4B0E-A75A-58AE8AE80117}" dt="2026-10-05T09:40:57.063" v="121" actId="1076"/>
          <ac:picMkLst>
            <pc:docMk/>
            <pc:sldMk cId="3827278324" sldId="271"/>
            <ac:picMk id="6" creationId="{88B59581-B6CE-26E2-D89C-E6EF7430FF0F}"/>
          </ac:picMkLst>
        </pc:picChg>
      </pc:sldChg>
      <pc:sldChg chg="addSp modSp del">
        <pc:chgData name="Adarsh siddharth." userId="da10689b4aa3e685" providerId="LiveId" clId="{7A0526DF-9BB2-4B0E-A75A-58AE8AE80117}" dt="2026-10-05T09:42:39.625" v="126" actId="47"/>
        <pc:sldMkLst>
          <pc:docMk/>
          <pc:sldMk cId="0" sldId="285"/>
        </pc:sldMkLst>
        <pc:picChg chg="add mod">
          <ac:chgData name="Adarsh siddharth." userId="da10689b4aa3e685" providerId="LiveId" clId="{7A0526DF-9BB2-4B0E-A75A-58AE8AE80117}" dt="2026-10-05T09:41:47.327" v="125"/>
          <ac:picMkLst>
            <pc:docMk/>
            <pc:sldMk cId="0" sldId="285"/>
            <ac:picMk id="16" creationId="{C2F675F5-39CD-9771-63DE-D286C0D6C96E}"/>
          </ac:picMkLst>
        </pc:picChg>
      </pc:sldChg>
      <pc:sldChg chg="addSp modSp new mod">
        <pc:chgData name="Adarsh siddharth." userId="da10689b4aa3e685" providerId="LiveId" clId="{7A0526DF-9BB2-4B0E-A75A-58AE8AE80117}" dt="2026-10-05T09:45:59.288" v="140" actId="1076"/>
        <pc:sldMkLst>
          <pc:docMk/>
          <pc:sldMk cId="2136381081" sldId="285"/>
        </pc:sldMkLst>
        <pc:picChg chg="add mod">
          <ac:chgData name="Adarsh siddharth." userId="da10689b4aa3e685" providerId="LiveId" clId="{7A0526DF-9BB2-4B0E-A75A-58AE8AE80117}" dt="2026-10-05T09:45:59.288" v="140" actId="1076"/>
          <ac:picMkLst>
            <pc:docMk/>
            <pc:sldMk cId="2136381081" sldId="285"/>
            <ac:picMk id="4" creationId="{77D43B20-A5AA-DC78-90D2-46E573379238}"/>
          </ac:picMkLst>
        </pc:picChg>
      </pc:sldChg>
      <pc:sldChg chg="new del">
        <pc:chgData name="Adarsh siddharth." userId="da10689b4aa3e685" providerId="LiveId" clId="{7A0526DF-9BB2-4B0E-A75A-58AE8AE80117}" dt="2026-10-05T09:41:07.597" v="123" actId="680"/>
        <pc:sldMkLst>
          <pc:docMk/>
          <pc:sldMk cId="822414111" sldId="286"/>
        </pc:sldMkLst>
      </pc:sldChg>
      <pc:sldChg chg="new del">
        <pc:chgData name="Adarsh siddharth." userId="da10689b4aa3e685" providerId="LiveId" clId="{7A0526DF-9BB2-4B0E-A75A-58AE8AE80117}" dt="2026-10-05T09:43:14.097" v="130" actId="680"/>
        <pc:sldMkLst>
          <pc:docMk/>
          <pc:sldMk cId="4160661989" sldId="2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185095" y="0"/>
            <a:ext cx="1671638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947988" y="2032000"/>
            <a:ext cx="9753601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5763" y="7823200"/>
            <a:ext cx="3086100" cy="6400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5440380"/>
            <a:ext cx="1671638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85095" y="15440380"/>
            <a:ext cx="1671638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DCFA7E3-AF1E-4675-AD18-D5B679F37F4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4E6D2F1-D737-43DE-B4CE-C454EF7B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854199"/>
            <a:ext cx="9144000" cy="1655763"/>
          </a:xfrm>
        </p:spPr>
        <p:txBody>
          <a:bodyPr rtlCol="0" anchor="b"/>
          <a:lstStyle>
            <a:lvl1pPr lvl="0" algn="ctr">
              <a:defRPr lang="en-US"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32171CF1-2CD1-4848-A55A-5A508E25A32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04F51DF-EF08-4C97-A330-FD7D92F0E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lvl="0" indent="0" algn="ctr">
              <a:buNone/>
              <a:defRPr lang="en-US" sz="2400" dirty="0"/>
            </a:lvl1pPr>
            <a:lvl2pPr marL="457200" lvl="1" indent="0" algn="ctr">
              <a:buNone/>
              <a:defRPr lang="en-US" sz="2000" dirty="0"/>
            </a:lvl2pPr>
            <a:lvl3pPr marL="914400" lvl="2" indent="0" algn="ctr">
              <a:buNone/>
              <a:defRPr lang="en-US" sz="1800" dirty="0"/>
            </a:lvl3pPr>
            <a:lvl4pPr marL="1371600" lvl="3" indent="0" algn="ctr">
              <a:buNone/>
              <a:defRPr lang="en-US" sz="1600" dirty="0"/>
            </a:lvl4pPr>
            <a:lvl5pPr marL="1828800" lvl="4" indent="0" algn="ctr">
              <a:buNone/>
              <a:defRPr lang="en-US" sz="1600" dirty="0"/>
            </a:lvl5pPr>
            <a:lvl6pPr marL="2286000" lvl="5" indent="0" algn="ctr">
              <a:buNone/>
              <a:defRPr lang="en-US" sz="1600" dirty="0"/>
            </a:lvl6pPr>
            <a:lvl7pPr marL="2743200" lvl="6" indent="0" algn="ctr">
              <a:buNone/>
              <a:defRPr lang="en-US" sz="1600" dirty="0"/>
            </a:lvl7pPr>
            <a:lvl8pPr marL="3200400" lvl="7" indent="0" algn="ctr">
              <a:buNone/>
              <a:defRPr lang="en-US" sz="1600" dirty="0"/>
            </a:lvl8pPr>
            <a:lvl9pPr marL="3657600" lvl="8" indent="0" algn="ctr">
              <a:buNone/>
              <a:defRPr lang="en-US"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>
            <a:extLst>
              <a:ext uri="{C1EB77FD-C848-422B-B273-451CDA41F4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1682ECF-C071-4F62-8564-87ABCCA31A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7608" y="592088"/>
            <a:ext cx="7609140" cy="1008112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C687AB22-C009-4796-A595-4B274F53E9E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9EC38CB-622C-4106-803A-85E3D547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Slide Number Placeholder 5">
            <a:extLst>
              <a:ext uri="{30F4214F-3E4E-4B8B-8AC2-BF59D50B2CD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25D679E-58E0-45F1-BEFC-163C6EEC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7" name="Date Placeholder 3">
            <a:extLst>
              <a:ext uri="{02364871-6258-47BB-A41D-1E9BEBD3EA9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E775BF1-9C64-4531-A7E2-730347FD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7D129387-9967-4C73-939D-69EF041DFD95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05269A97-DC81-49F9-B896-84CAB659C6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56F5785-025F-4915-96E3-0AFF7163BC1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561876"/>
            <a:ext cx="10515600" cy="4531419"/>
          </a:xfrm>
        </p:spPr>
        <p:txBody>
          <a:bodyPr rtlCol="0"/>
          <a:lstStyle>
            <a:lvl1pPr marL="457200" lvl="0" indent="0">
              <a:buNone/>
            </a:lvl1pPr>
            <a:lvl2pPr marL="914400" lvl="1" indent="0">
              <a:buNone/>
            </a:lvl2pPr>
            <a:lvl3pPr marL="1371600" lvl="2" indent="0">
              <a:buNone/>
            </a:lvl3pPr>
            <a:lvl4pPr marL="1828800" lvl="3" indent="0">
              <a:buNone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>
            <a:extLst>
              <a:ext uri="{C7EE3D1E-6A2F-4B40-9445-6784FC740AC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4C561F3-3431-4CB3-94B3-3A3D9CDA63D8}"/>
              </a:ext>
            </a:extLst>
          </p:cNvPr>
          <p:cNvSpPr>
            <a:spLocks noGrp="1"/>
          </p:cNvSpPr>
          <p:nvPr>
            <p:ph type="dt" sz="half" idx="1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ADCE28B6-DBFE-4620-B95B-46D05A4EFA88}" type="datetime1"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E2B100E3-D1A2-4814-971B-1F28BC986B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6403740-14DB-4D0C-AC81-1640F2592B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DL&amp;CO                                                                G.LAVARAJU, Associate Professor, CSE</a:t>
            </a:r>
          </a:p>
        </p:txBody>
      </p:sp>
      <p:pic>
        <p:nvPicPr>
          <p:cNvPr id="5" name="Picture 2">
            <a:extLst>
              <a:ext uri="{DAD87817-DB1B-4DE8-BD41-41BB3E99A74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3518EA9-28E9-4397-BCB4-F5D7ABFF9E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6" name="Slide Number Placeholder 3">
            <a:extLst>
              <a:ext uri="{8B62DEED-5952-4478-9464-706CCDCB22D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265A311-D434-4806-B3C0-ED40E2B04A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9359D16F-76A5-41BA-ADDD-CBF352B33DDD}" type="slidenum">
              <a:t>‹#›</a:t>
            </a:fld>
            <a:endParaRPr lang="en-US" dirty="0"/>
          </a:p>
        </p:txBody>
      </p:sp>
    </p:spTree>
    <p:extLst>
      <p:ext uri="{E791D5F0-FCE4-45B8-828D-F7D7E855498A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2A124749-B5E7-4428-BF59-41C47B6A61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8CFA2DB-E1A9-463A-BC5A-35A8CCF529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3" name="Date Placeholder 2">
            <a:extLst>
              <a:ext uri="{E7A761B9-81CB-49B2-8BE6-983B6B07B3D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471AC3-982D-4B96-9E59-D3B6F74D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B13D2877-58CC-4844-975B-B8D6496C43E9}" type="datetime1"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7A687B93-B742-4FC6-AC3F-36C63D4DF72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5844C2E-6153-4C88-A824-95DE18C3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DL&amp;CO                                                                G.LAVARAJU, Associate Professor, CSE</a:t>
            </a:r>
          </a:p>
        </p:txBody>
      </p:sp>
      <p:sp>
        <p:nvSpPr>
          <p:cNvPr id="5" name="Slide Number Placeholder 3">
            <a:extLst>
              <a:ext uri="{A59E037D-D639-4F65-9477-94A0EBCDC4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C0A76B5-951D-4394-8F2D-A4E34AC0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D9C5B093-D3DD-4808-813A-F58BF8E67773}" type="slidenum">
              <a:t>‹#›</a:t>
            </a:fld>
            <a:endParaRPr lang="en-US" dirty="0"/>
          </a:p>
        </p:txBody>
      </p:sp>
    </p:spTree>
    <p:extLst>
      <p:ext uri="{917857EF-1D39-4225-A829-037EB1D2793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48EA39CE-E158-4B2A-99CD-545B14A22D3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313CDBB-BA82-4DED-973B-07A500BC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76CEBE57-5AC2-4233-9D99-CAE469A4C85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438A3C5-0C27-48D9-9FD4-D71686301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5757E326-5F3E-43A1-830E-27FE2CE96B3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1FB99B2-34CB-4F0C-AABD-9CC4327C4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23D07-B41D-4865-9117-A59235B241FC}" type="datetime1"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71906065-35B4-4935-A9D1-FD668DE1E5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7A5B885-A2DA-46BA-BC42-719D5CA3E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DL&amp;CO                                                                G.LAVARAJU, Associate Professor, CSE</a:t>
            </a:r>
          </a:p>
        </p:txBody>
      </p:sp>
      <p:sp>
        <p:nvSpPr>
          <p:cNvPr id="6" name="Slide Number Placeholder 5">
            <a:extLst>
              <a:ext uri="{35F2950A-B1CB-4727-AB58-367C2C82CEA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979ABAE-2F0E-462F-935B-AC49E1A2F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9481-3A84-418C-9FCC-1F8C2D158F80}" type="slidenum"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lvl="0" algn="l" rtl="0">
        <a:lnSpc>
          <a:spcPct val="90000"/>
        </a:lnSpc>
        <a:spcBef>
          <a:spcPct val="0"/>
        </a:spcBef>
        <a:buNone/>
        <a:defRPr lang="en-US" sz="4400" dirty="0">
          <a:solidFill>
            <a:schemeClr val="tx1"/>
          </a:solidFill>
          <a:latin typeface="+mj-lt"/>
        </a:defRPr>
      </a:lvl1pPr>
    </p:titleStyle>
    <p:bodyStyle>
      <a:lvl1pPr marL="228600" lvl="0" indent="-228600" algn="l" rtl="0">
        <a:lnSpc>
          <a:spcPct val="90000"/>
        </a:lnSpc>
        <a:spcBef>
          <a:spcPts val="1000"/>
        </a:spcBef>
        <a:buChar char="•"/>
        <a:defRPr lang="en-US" sz="2800" dirty="0">
          <a:solidFill>
            <a:schemeClr val="tx1"/>
          </a:solidFill>
          <a:latin typeface="+mn-lt"/>
        </a:defRPr>
      </a:lvl1pPr>
      <a:lvl2pPr marL="685800" lvl="1" indent="-228600" algn="l" rtl="0">
        <a:lnSpc>
          <a:spcPct val="90000"/>
        </a:lnSpc>
        <a:spcBef>
          <a:spcPts val="500"/>
        </a:spcBef>
        <a:buChar char="•"/>
        <a:defRPr lang="en-US" sz="2400" dirty="0">
          <a:solidFill>
            <a:schemeClr val="tx1"/>
          </a:solidFill>
          <a:latin typeface="+mn-lt"/>
        </a:defRPr>
      </a:lvl2pPr>
      <a:lvl3pPr marL="1143000" lvl="2" indent="-228600" algn="l" rtl="0">
        <a:lnSpc>
          <a:spcPct val="90000"/>
        </a:lnSpc>
        <a:spcBef>
          <a:spcPts val="500"/>
        </a:spcBef>
        <a:buChar char="•"/>
        <a:defRPr lang="en-US" sz="2000" dirty="0">
          <a:solidFill>
            <a:schemeClr val="tx1"/>
          </a:solidFill>
          <a:latin typeface="+mn-lt"/>
        </a:defRPr>
      </a:lvl3pPr>
      <a:lvl4pPr marL="1600200" lvl="3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4pPr>
      <a:lvl5pPr marL="2057400" lvl="4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5pPr>
      <a:lvl6pPr marL="2514600" lvl="5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6pPr>
      <a:lvl7pPr marL="2971800" lvl="6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7pPr>
      <a:lvl8pPr marL="3429000" lvl="7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8pPr>
      <a:lvl9pPr marL="3886200" lvl="8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FDBD5F-8F20-12B1-59D4-CE94FA314A15}"/>
              </a:ext>
            </a:extLst>
          </p:cNvPr>
          <p:cNvSpPr txBox="1"/>
          <p:nvPr/>
        </p:nvSpPr>
        <p:spPr>
          <a:xfrm>
            <a:off x="2971800" y="1447800"/>
            <a:ext cx="6705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00B0F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	University Management</a:t>
            </a:r>
          </a:p>
          <a:p>
            <a:pPr algn="ctr"/>
            <a:r>
              <a:rPr lang="en-US" sz="3200" dirty="0">
                <a:solidFill>
                  <a:srgbClr val="00B0F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    Database System</a:t>
            </a:r>
          </a:p>
          <a:p>
            <a:pPr algn="ctr"/>
            <a:endParaRPr lang="en-IN" sz="3200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6DD86F-65AE-1580-0759-771D6EA7D8B5}"/>
              </a:ext>
            </a:extLst>
          </p:cNvPr>
          <p:cNvSpPr txBox="1"/>
          <p:nvPr/>
        </p:nvSpPr>
        <p:spPr>
          <a:xfrm>
            <a:off x="685800" y="2438400"/>
            <a:ext cx="112776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55A1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BATCH NUMBER:</a:t>
            </a:r>
            <a:r>
              <a:rPr lang="en-US" b="1" dirty="0">
                <a:solidFill>
                  <a:srgbClr val="C55A1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04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Presented by: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25B11AI428 -  JOJATI BHAKAT           25B11AI009 - ADARSH SIDDHARTH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25B11AI044 – ANIKET KUMAR              25B11AIA46 – SACHIN KUMAR MAHTO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Academic Year: 2026-2027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ctr"/>
            <a:r>
              <a:rPr lang="en-US" dirty="0">
                <a:solidFill>
                  <a:schemeClr val="dk1"/>
                </a:solidFill>
                <a:ea typeface="Times New Roman"/>
                <a:cs typeface="Times New Roman" panose="02020603050405020304" pitchFamily="18" charset="0"/>
                <a:sym typeface="Times New Roman"/>
              </a:rPr>
              <a:t>Under esteemed guidance of</a:t>
            </a:r>
            <a:endParaRPr lang="en-US" dirty="0">
              <a:cs typeface="Times New Roman" panose="02020603050405020304" pitchFamily="18" charset="0"/>
            </a:endParaRPr>
          </a:p>
          <a:p>
            <a:pPr algn="ctr"/>
            <a:r>
              <a:rPr lang="en-US" noProof="1">
                <a:cs typeface="Times New Roman" panose="02020603050405020304" pitchFamily="18" charset="0"/>
              </a:rPr>
              <a:t>      </a:t>
            </a:r>
            <a:r>
              <a:rPr lang="en-US" b="1" noProof="1">
                <a:cs typeface="Times New Roman" panose="02020603050405020304" pitchFamily="18" charset="0"/>
              </a:rPr>
              <a:t>Mr.M Sudheer</a:t>
            </a:r>
            <a:endParaRPr lang="en-US" noProof="1">
              <a:cs typeface="Times New Roman" panose="02020603050405020304" pitchFamily="18" charset="0"/>
            </a:endParaRPr>
          </a:p>
          <a:p>
            <a:pPr algn="ctr"/>
            <a:r>
              <a:rPr lang="en-US" noProof="1">
                <a:cs typeface="Times New Roman" panose="02020603050405020304" pitchFamily="18" charset="0"/>
              </a:rPr>
              <a:t>        </a:t>
            </a:r>
            <a:r>
              <a:rPr lang="en-US" dirty="0">
                <a:cs typeface="Times New Roman" panose="02020603050405020304" pitchFamily="18" charset="0"/>
              </a:rPr>
              <a:t>Assistant  Professor </a:t>
            </a:r>
          </a:p>
          <a:p>
            <a:pPr algn="ctr"/>
            <a:r>
              <a:rPr lang="en-US" dirty="0">
                <a:cs typeface="Times New Roman" panose="02020603050405020304" pitchFamily="18" charset="0"/>
              </a:rPr>
              <a:t>         Department of AIML</a:t>
            </a:r>
          </a:p>
          <a:p>
            <a:pPr algn="ctr"/>
            <a:r>
              <a:rPr lang="en-US" b="1" dirty="0">
                <a:cs typeface="Times New Roman" panose="02020603050405020304" pitchFamily="18" charset="0"/>
              </a:rPr>
              <a:t>     Aditya University </a:t>
            </a:r>
            <a:endParaRPr lang="en-US" b="1" dirty="0">
              <a:solidFill>
                <a:schemeClr val="dk1"/>
              </a:solidFill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C55A1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59DB2955-81A9-4330-9517-4CB607EFC6F5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4CB30A-0A58-1EC6-FDE2-F2294F48E454}"/>
              </a:ext>
            </a:extLst>
          </p:cNvPr>
          <p:cNvSpPr txBox="1"/>
          <p:nvPr/>
        </p:nvSpPr>
        <p:spPr>
          <a:xfrm>
            <a:off x="685800" y="1143000"/>
            <a:ext cx="89916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u="sng" dirty="0">
                <a:solidFill>
                  <a:schemeClr val="accent2"/>
                </a:solidFill>
              </a:rPr>
              <a:t>Project Overview</a:t>
            </a:r>
          </a:p>
          <a:p>
            <a:pPr>
              <a:buNone/>
            </a:pPr>
            <a:r>
              <a:rPr lang="en-IN" dirty="0">
                <a:latin typeface="Arial Rounded MT Bold" panose="020F0704030504030204" pitchFamily="34" charset="0"/>
              </a:rPr>
              <a:t>  The University Management Database System is designed to store and                    manage important college information in a structured way.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FE27E-BE74-E8D7-F807-2783C7AC8D8D}"/>
              </a:ext>
            </a:extLst>
          </p:cNvPr>
          <p:cNvSpPr txBox="1"/>
          <p:nvPr/>
        </p:nvSpPr>
        <p:spPr>
          <a:xfrm>
            <a:off x="670560" y="2575679"/>
            <a:ext cx="1045464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u="sng" dirty="0">
                <a:solidFill>
                  <a:schemeClr val="accent2"/>
                </a:solidFill>
                <a:latin typeface="Arial Black" panose="020B0A04020102020204" pitchFamily="34" charset="0"/>
              </a:rPr>
              <a:t>Problem Statement</a:t>
            </a:r>
          </a:p>
          <a:p>
            <a:pPr>
              <a:buNone/>
            </a:pPr>
            <a:r>
              <a:rPr lang="en-IN" dirty="0">
                <a:ea typeface="Artifakt Element Heavy" panose="020B0B03050000020004" pitchFamily="34" charset="0"/>
              </a:rPr>
              <a:t>Managing college information manually or using separate files can create several problems: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ea typeface="Artifakt Element Heavy" panose="020B0B03050000020004" pitchFamily="34" charset="0"/>
              </a:rPr>
              <a:t>Duplicate student and faculty information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ea typeface="Artifakt Element Heavy" panose="020B0B03050000020004" pitchFamily="34" charset="0"/>
              </a:rPr>
              <a:t>Difficulty in finding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ea typeface="Artifakt Element Heavy" panose="020B0B03050000020004" pitchFamily="34" charset="0"/>
              </a:rPr>
              <a:t>Data inconsistency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ea typeface="Artifakt Element Heavy" panose="020B0B03050000020004" pitchFamily="34" charset="0"/>
              </a:rPr>
              <a:t>Time-consuming updates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ea typeface="Artifakt Element Heavy" panose="020B0B03050000020004" pitchFamily="34" charset="0"/>
              </a:rPr>
              <a:t>Difficult relationship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ea typeface="Artifakt Element Heavy" panose="020B0B03050000020004" pitchFamily="34" charset="0"/>
              </a:rPr>
              <a:t>Higher chance of errors </a:t>
            </a:r>
          </a:p>
          <a:p>
            <a:pPr>
              <a:buNone/>
            </a:pPr>
            <a:r>
              <a:rPr lang="en-IN" b="1" u="sng" dirty="0">
                <a:solidFill>
                  <a:schemeClr val="accent2"/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Proposed Solution</a:t>
            </a:r>
          </a:p>
          <a:p>
            <a:pPr>
              <a:buNone/>
            </a:pPr>
            <a:r>
              <a:rPr lang="en-IN" dirty="0"/>
              <a:t>We propose a </a:t>
            </a:r>
            <a:r>
              <a:rPr lang="en-IN" b="1" dirty="0"/>
              <a:t>centralized relational database</a:t>
            </a:r>
            <a:r>
              <a:rPr lang="en-IN" dirty="0"/>
              <a:t> that connects students, departments, faculty, courses, </a:t>
            </a:r>
            <a:r>
              <a:rPr lang="en-IN" dirty="0" err="1"/>
              <a:t>enrollment</a:t>
            </a:r>
            <a:r>
              <a:rPr lang="en-IN" dirty="0"/>
              <a:t> and examination information.</a:t>
            </a:r>
          </a:p>
        </p:txBody>
      </p:sp>
    </p:spTree>
    <p:extLst>
      <p:ext uri="{BB962C8B-B14F-4D97-AF65-F5344CB8AC3E}">
        <p14:creationId xmlns:p14="http://schemas.microsoft.com/office/powerpoint/2010/main" val="400314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D437DB-E8FC-6952-07A0-6E103A9F68B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52400" y="1524000"/>
            <a:ext cx="11811000" cy="5029200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Objectives</a:t>
            </a:r>
          </a:p>
          <a:p>
            <a:pPr marL="914400" lvl="0" indent="-457200">
              <a:buFont typeface="Arial" panose="020B0604020202020204" pitchFamily="34" charset="0"/>
              <a:buChar char="•"/>
            </a:pPr>
            <a:r>
              <a:rPr lang="en-IN" dirty="0"/>
              <a:t>Manage student information </a:t>
            </a:r>
          </a:p>
          <a:p>
            <a:pPr marL="914400" lvl="0" indent="-457200">
              <a:buFont typeface="Arial" panose="020B0604020202020204" pitchFamily="34" charset="0"/>
              <a:buChar char="•"/>
            </a:pPr>
            <a:r>
              <a:rPr lang="en-IN" dirty="0"/>
              <a:t>Manage department and faculty details </a:t>
            </a:r>
          </a:p>
          <a:p>
            <a:pPr marL="914400" lvl="0" indent="-457200">
              <a:buFont typeface="Arial" panose="020B0604020202020204" pitchFamily="34" charset="0"/>
              <a:buChar char="•"/>
            </a:pPr>
            <a:r>
              <a:rPr lang="en-IN" dirty="0"/>
              <a:t>Store course information </a:t>
            </a:r>
          </a:p>
          <a:p>
            <a:pPr marL="914400" lvl="0" indent="-457200">
              <a:buFont typeface="Arial" panose="020B0604020202020204" pitchFamily="34" charset="0"/>
              <a:buChar char="•"/>
            </a:pPr>
            <a:r>
              <a:rPr lang="en-IN" dirty="0"/>
              <a:t>Track student </a:t>
            </a:r>
            <a:r>
              <a:rPr lang="en-IN" dirty="0" err="1"/>
              <a:t>enrollment</a:t>
            </a:r>
            <a:r>
              <a:rPr lang="en-IN" dirty="0"/>
              <a:t> </a:t>
            </a:r>
          </a:p>
          <a:p>
            <a:pPr marL="914400" lvl="0" indent="-457200">
              <a:buFont typeface="Arial" panose="020B0604020202020204" pitchFamily="34" charset="0"/>
              <a:buChar char="•"/>
            </a:pPr>
            <a:r>
              <a:rPr lang="en-IN" dirty="0"/>
              <a:t>Manage examination details </a:t>
            </a:r>
          </a:p>
          <a:p>
            <a:pPr marL="914400" lvl="0" indent="-457200">
              <a:buFont typeface="Arial" panose="020B0604020202020204" pitchFamily="34" charset="0"/>
              <a:buChar char="•"/>
            </a:pPr>
            <a:r>
              <a:rPr lang="en-IN" dirty="0"/>
              <a:t>Store student results </a:t>
            </a:r>
          </a:p>
          <a:p>
            <a:pPr marL="914400" lvl="0" indent="-457200">
              <a:buFont typeface="Arial" panose="020B0604020202020204" pitchFamily="34" charset="0"/>
              <a:buChar char="•"/>
            </a:pPr>
            <a:r>
              <a:rPr lang="en-IN" dirty="0"/>
              <a:t>Reduce duplicate data </a:t>
            </a:r>
          </a:p>
          <a:p>
            <a:pPr marL="914400" lvl="0" indent="-457200">
              <a:buFont typeface="Arial" panose="020B0604020202020204" pitchFamily="34" charset="0"/>
              <a:buChar char="•"/>
            </a:pPr>
            <a:r>
              <a:rPr lang="en-IN" dirty="0"/>
              <a:t>Make data easy to access and manage </a:t>
            </a:r>
          </a:p>
          <a:p>
            <a:endParaRPr lang="en-IN" dirty="0"/>
          </a:p>
          <a:p>
            <a:pPr algn="ctr"/>
            <a:r>
              <a:rPr lang="en-IN" b="1" dirty="0"/>
              <a:t>Our goal is to create a centralized and organized database for college management.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5845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5901D3D-4DAA-D6EF-8C83-4C7DC473D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57" y="1143000"/>
            <a:ext cx="9936885" cy="555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109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643573-D740-0004-CDB9-C42A492B9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368300"/>
            <a:ext cx="9220200" cy="614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84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A196C1-20E9-3064-7675-1ED781865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152400"/>
            <a:ext cx="9589498" cy="6553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4070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01DB78A-2354-601D-0F0A-B9FA4E162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85750"/>
            <a:ext cx="942975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79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0B6CEE6-6B2C-C213-0057-A8687B3B528D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819400" y="2286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217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274320"/>
            <a:ext cx="914400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F3A6E"/>
                </a:solidFill>
                <a:latin typeface="Calibri"/>
              </a:rPr>
              <a:t>NORMALIZATION (UNF TO 3NF)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1672" cy="4114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F3A6E"/>
                </a:solidFill>
                <a:latin typeface="Calibri"/>
              </a:rPr>
              <a:t>Normalization removes redundancy and prevents insert, update and delete anomalies.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2651760" cy="457200"/>
          </a:xfrm>
          <a:prstGeom prst="roundRect">
            <a:avLst>
              <a:gd name="adj" fmla="val 8000"/>
            </a:avLst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UNF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13432"/>
            <a:ext cx="2560320" cy="2697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3A6E"/>
                </a:solidFill>
                <a:latin typeface="Calibri"/>
              </a:rPr>
              <a:t>One big record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Student_ID, Student_Name,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Dept_Name, HOD, {Course_ID,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Course_Name, Faculty_Name,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Exam_Type, Marks} repeated</a:t>
            </a:r>
          </a:p>
          <a:p>
            <a:pPr algn="l">
              <a:spcAft>
                <a:spcPts val="0"/>
              </a:spcAft>
            </a:pPr>
            <a:endParaRPr sz="1400" b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Problem: </a:t>
            </a:r>
            <a:r>
              <a:rPr sz="1400" b="0">
                <a:solidFill>
                  <a:srgbClr val="222222"/>
                </a:solidFill>
                <a:latin typeface="Calibri"/>
              </a:rPr>
              <a:t>repeating groups and duplicate department / faculty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7830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55848" y="1783080"/>
            <a:ext cx="2651760" cy="45720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1NF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2313432"/>
            <a:ext cx="2560320" cy="2697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3A6E"/>
                </a:solidFill>
                <a:latin typeface="Calibri"/>
              </a:rPr>
              <a:t>Atomic values only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One row per student, course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and exam.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Key: (Student_ID, Course_ID,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Exam_Type)</a:t>
            </a:r>
          </a:p>
          <a:p>
            <a:pPr algn="l">
              <a:spcAft>
                <a:spcPts val="0"/>
              </a:spcAft>
            </a:pPr>
            <a:endParaRPr sz="1400" b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2E8B57"/>
                </a:solidFill>
                <a:latin typeface="Calibri"/>
              </a:rPr>
              <a:t>Fixed: </a:t>
            </a:r>
            <a:r>
              <a:rPr sz="1400" b="0">
                <a:solidFill>
                  <a:srgbClr val="222222"/>
                </a:solidFill>
                <a:latin typeface="Calibri"/>
              </a:rPr>
              <a:t>repeating groups.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Still: </a:t>
            </a:r>
            <a:r>
              <a:rPr sz="1400" b="0">
                <a:solidFill>
                  <a:srgbClr val="222222"/>
                </a:solidFill>
                <a:latin typeface="Calibri"/>
              </a:rPr>
              <a:t>student, course and department data repeat on every row.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5" y="17830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63055" y="1783080"/>
            <a:ext cx="2651760" cy="457200"/>
          </a:xfrm>
          <a:prstGeom prst="roundRect">
            <a:avLst>
              <a:gd name="adj" fmla="val 8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5" y="2313432"/>
            <a:ext cx="2560320" cy="2697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3A6E"/>
                </a:solidFill>
                <a:latin typeface="Calibri"/>
              </a:rPr>
              <a:t>No partial dependency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Student_ID → Name, Email, Dept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Course_ID → Name, Credits, Faculty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(Student_ID, Course_ID) →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Enrollment_Date, Semester</a:t>
            </a:r>
          </a:p>
          <a:p>
            <a:pPr algn="l">
              <a:spcAft>
                <a:spcPts val="0"/>
              </a:spcAft>
            </a:pPr>
            <a:endParaRPr sz="1400" b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6B3FA0"/>
                </a:solidFill>
                <a:latin typeface="Calibri"/>
              </a:rPr>
              <a:t>Split into: </a:t>
            </a:r>
            <a:r>
              <a:rPr sz="1400" b="0">
                <a:solidFill>
                  <a:srgbClr val="222222"/>
                </a:solidFill>
                <a:latin typeface="Calibri"/>
              </a:rPr>
              <a:t>Student, Course, Enrollment, Examination, Result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0263" y="17830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970263" y="1783080"/>
            <a:ext cx="2651760" cy="4572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3NF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313432"/>
            <a:ext cx="2560320" cy="2697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3A6E"/>
                </a:solidFill>
                <a:latin typeface="Calibri"/>
              </a:rPr>
              <a:t>No transitive dependency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Department_ID → Name, Location, HOD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Faculty_ID → Name, Designation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Exam_ID → Course, Date, Type, Max</a:t>
            </a:r>
          </a:p>
          <a:p>
            <a:pPr algn="l">
              <a:spcAft>
                <a:spcPts val="0"/>
              </a:spcAft>
            </a:pPr>
            <a:endParaRPr sz="1400" b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C25E10"/>
                </a:solidFill>
                <a:latin typeface="Calibri"/>
              </a:rPr>
              <a:t>Separated: </a:t>
            </a:r>
            <a:r>
              <a:rPr sz="1400" b="0">
                <a:solidFill>
                  <a:srgbClr val="222222"/>
                </a:solidFill>
                <a:latin typeface="Calibri"/>
              </a:rPr>
              <a:t>Department and Faculty stored once, referenced by foreign keys.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0352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3A6E"/>
                </a:solidFill>
                <a:latin typeface="Calibri"/>
              </a:rPr>
              <a:t>Final design: 7 relations, all in 3NF.  </a:t>
            </a:r>
            <a:r>
              <a:rPr sz="1400" b="0">
                <a:solidFill>
                  <a:srgbClr val="222222"/>
                </a:solidFill>
                <a:latin typeface="Calibri"/>
              </a:rPr>
              <a:t>Every non-key attribute depends on the key, the whole key and nothing but the key.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C25E10"/>
                </a:solidFill>
                <a:latin typeface="Calibri"/>
              </a:rPr>
              <a:t>Anomalies prevented:  </a:t>
            </a:r>
            <a:r>
              <a:rPr sz="1300" b="0">
                <a:solidFill>
                  <a:srgbClr val="222222"/>
                </a:solidFill>
                <a:latin typeface="Calibri"/>
              </a:rPr>
              <a:t>Insert: add a department without students.  Update: change a HOD in one place only.  Delete: remove an enrollment without losing the student or course.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274320"/>
            <a:ext cx="914400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F3A6E"/>
                </a:solidFill>
                <a:latin typeface="Calibri"/>
              </a:rPr>
              <a:t>DATABASE CONSTRAINTS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1672" cy="4114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F3A6E"/>
                </a:solidFill>
                <a:latin typeface="Calibri"/>
              </a:rPr>
              <a:t>Constraints enforce data integrity inside the database itself, whatever the application does.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091672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Primary Key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Foreign Key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NOT NULL / UNIQUE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CHECK / DEFAULT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Department_ID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Department_Name (NOT NULL, UNIQUE)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Student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Student_ID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Department_ID → Department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Student_Name, Email, Department_ID (NOT NULL); Email UNIQUE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Gender IN (Male, Female, Other)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Faculty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Faculty_ID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Department_ID → Department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Faculty_Name, Department_ID (NOT NULL); Email UNIQUE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Course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Course_ID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Department_ID → Department; Faculty_ID → Faculty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Course_Name, Department_ID (NOT NULL)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Credits BETWEEN 1 AND 6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Enrollment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Enrollment_ID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Student_ID → Student; Course_ID → Course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Student_ID, Course_ID (NOT NULL); UNIQUE (Student_ID, Course_ID)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Semester BETWEEN 1 AND 8; Enrollment_Date DEFAULT SYSDATE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Examination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Exam_ID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Course_ID → Course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Course_ID (NOT NULL)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Exam_Type IN (Mid, End); Max_Marks &gt; 0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Result_ID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Exam_ID → Examination; Student_ID → Student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Exam_ID, Student_ID (NOT NULL); UNIQUE (Exam_ID, Student_ID)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Marks_Obtained &gt;= 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76072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F6FB5"/>
                </a:solidFill>
                <a:latin typeface="Calibri"/>
              </a:rPr>
              <a:t>7  </a:t>
            </a:r>
            <a:r>
              <a:rPr sz="1500" b="1">
                <a:solidFill>
                  <a:srgbClr val="1F3A6E"/>
                </a:solidFill>
                <a:latin typeface="Calibri"/>
              </a:rPr>
              <a:t>Primary Keys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5848" y="576072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6B3FA0"/>
                </a:solidFill>
                <a:latin typeface="Calibri"/>
              </a:rPr>
              <a:t>9  </a:t>
            </a:r>
            <a:r>
              <a:rPr sz="1500" b="1">
                <a:solidFill>
                  <a:srgbClr val="1F3A6E"/>
                </a:solidFill>
                <a:latin typeface="Calibri"/>
              </a:rPr>
              <a:t>Foreign Keys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576072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2808C"/>
                </a:solidFill>
                <a:latin typeface="Calibri"/>
              </a:rPr>
              <a:t>5  </a:t>
            </a:r>
            <a:r>
              <a:rPr sz="1500" b="1">
                <a:solidFill>
                  <a:srgbClr val="1F3A6E"/>
                </a:solidFill>
                <a:latin typeface="Calibri"/>
              </a:rPr>
              <a:t>UNIQUE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0263" y="576072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ED7D31"/>
                </a:solidFill>
                <a:latin typeface="Calibri"/>
              </a:rPr>
              <a:t>6  </a:t>
            </a:r>
            <a:r>
              <a:rPr sz="1500" b="1">
                <a:solidFill>
                  <a:srgbClr val="1F3A6E"/>
                </a:solidFill>
                <a:latin typeface="Calibri"/>
              </a:rPr>
              <a:t>CHECK rules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274320"/>
            <a:ext cx="914400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F3A6E"/>
                </a:solidFill>
                <a:latin typeface="Calibri"/>
              </a:rPr>
              <a:t>DDL: CREATE TABLE (1 OF 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1672" cy="4114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F3A6E"/>
                </a:solidFill>
                <a:latin typeface="Calibri"/>
              </a:rPr>
              <a:t>Parent tables are created first so that foreign keys always have a table to reference.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40680" cy="3977639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t"/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3A6E"/>
                </a:solidFill>
                <a:latin typeface="Courier New"/>
              </a:rPr>
              <a:t>CREATE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TABLE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Department (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Department_ID  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NUMBER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PRIMARY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KEY</a:t>
            </a:r>
            <a:r>
              <a:rPr sz="1050" b="0">
                <a:solidFill>
                  <a:srgbClr val="2B2B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Department_Name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VARCHAR2</a:t>
            </a:r>
            <a:r>
              <a:rPr sz="1050" b="0">
                <a:solidFill>
                  <a:srgbClr val="2B2B2B"/>
                </a:solidFill>
                <a:latin typeface="Courier New"/>
              </a:rPr>
              <a:t>(60)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NOT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NULL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UNIQUE</a:t>
            </a:r>
            <a:r>
              <a:rPr sz="1050" b="0">
                <a:solidFill>
                  <a:srgbClr val="2B2B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Location       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VARCHAR2</a:t>
            </a:r>
            <a:r>
              <a:rPr sz="1050" b="0">
                <a:solidFill>
                  <a:srgbClr val="2B2B2B"/>
                </a:solidFill>
                <a:latin typeface="Courier New"/>
              </a:rPr>
              <a:t>(30),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HOD            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VARCHAR2</a:t>
            </a:r>
            <a:r>
              <a:rPr sz="1050" b="0">
                <a:solidFill>
                  <a:srgbClr val="2B2B2B"/>
                </a:solidFill>
                <a:latin typeface="Courier New"/>
              </a:rPr>
              <a:t>(50)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);</a:t>
            </a:r>
          </a:p>
          <a:p>
            <a:pPr algn="l">
              <a:spcAft>
                <a:spcPts val="0"/>
              </a:spcAft>
            </a:pPr>
            <a:endParaRPr sz="1050" b="0">
              <a:solidFill>
                <a:srgbClr val="2B2B2B"/>
              </a:solidFill>
              <a:latin typeface="Courier New"/>
            </a:endParaRPr>
          </a:p>
          <a:p>
            <a:pPr algn="l">
              <a:spcAft>
                <a:spcPts val="0"/>
              </a:spcAft>
            </a:pPr>
            <a:r>
              <a:rPr sz="1050" b="1">
                <a:solidFill>
                  <a:srgbClr val="1F3A6E"/>
                </a:solidFill>
                <a:latin typeface="Courier New"/>
              </a:rPr>
              <a:t>CREATE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TABLE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Student (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Student_ID   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NUMBER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PRIMARY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KEY</a:t>
            </a:r>
            <a:r>
              <a:rPr sz="1050" b="0">
                <a:solidFill>
                  <a:srgbClr val="2B2B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Student_Name 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VARCHAR2</a:t>
            </a:r>
            <a:r>
              <a:rPr sz="1050" b="0">
                <a:solidFill>
                  <a:srgbClr val="2B2B2B"/>
                </a:solidFill>
                <a:latin typeface="Courier New"/>
              </a:rPr>
              <a:t>(60)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NOT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NULL</a:t>
            </a:r>
            <a:r>
              <a:rPr sz="1050" b="0">
                <a:solidFill>
                  <a:srgbClr val="2B2B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DOB          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DATE</a:t>
            </a:r>
            <a:r>
              <a:rPr sz="1050" b="0">
                <a:solidFill>
                  <a:srgbClr val="2B2B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Gender       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VARCHAR2</a:t>
            </a:r>
            <a:r>
              <a:rPr sz="1050" b="0">
                <a:solidFill>
                  <a:srgbClr val="2B2B2B"/>
                </a:solidFill>
                <a:latin typeface="Courier New"/>
              </a:rPr>
              <a:t>(10)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             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CHECK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(Gender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IN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('Male','Female','Other')),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Email        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VARCHAR2</a:t>
            </a:r>
            <a:r>
              <a:rPr sz="1050" b="0">
                <a:solidFill>
                  <a:srgbClr val="2B2B2B"/>
                </a:solidFill>
                <a:latin typeface="Courier New"/>
              </a:rPr>
              <a:t>(80)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NOT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NULL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UNIQUE</a:t>
            </a:r>
            <a:r>
              <a:rPr sz="1050" b="0">
                <a:solidFill>
                  <a:srgbClr val="2B2B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Department_ID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NUMBER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NOT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NULL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             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REFERENCES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Department(Department_ID)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);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783080"/>
            <a:ext cx="5440680" cy="3977639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t"/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3A6E"/>
                </a:solidFill>
                <a:latin typeface="Courier New"/>
              </a:rPr>
              <a:t>CREATE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TABLE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Faculty (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Faculty_ID   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NUMBER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PRIMARY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KEY</a:t>
            </a:r>
            <a:r>
              <a:rPr sz="1050" b="0">
                <a:solidFill>
                  <a:srgbClr val="2B2B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Faculty_Name 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VARCHAR2</a:t>
            </a:r>
            <a:r>
              <a:rPr sz="1050" b="0">
                <a:solidFill>
                  <a:srgbClr val="2B2B2B"/>
                </a:solidFill>
                <a:latin typeface="Courier New"/>
              </a:rPr>
              <a:t>(60)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NOT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NULL</a:t>
            </a:r>
            <a:r>
              <a:rPr sz="1050" b="0">
                <a:solidFill>
                  <a:srgbClr val="2B2B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Email        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VARCHAR2</a:t>
            </a:r>
            <a:r>
              <a:rPr sz="1050" b="0">
                <a:solidFill>
                  <a:srgbClr val="2B2B2B"/>
                </a:solidFill>
                <a:latin typeface="Courier New"/>
              </a:rPr>
              <a:t>(80)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UNIQUE</a:t>
            </a:r>
            <a:r>
              <a:rPr sz="1050" b="0">
                <a:solidFill>
                  <a:srgbClr val="2B2B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Designation  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VARCHAR2</a:t>
            </a:r>
            <a:r>
              <a:rPr sz="1050" b="0">
                <a:solidFill>
                  <a:srgbClr val="2B2B2B"/>
                </a:solidFill>
                <a:latin typeface="Courier New"/>
              </a:rPr>
              <a:t>(40),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Department_ID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NUMBER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NOT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NULL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             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REFERENCES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Department(Department_ID)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);</a:t>
            </a:r>
          </a:p>
          <a:p>
            <a:pPr algn="l">
              <a:spcAft>
                <a:spcPts val="0"/>
              </a:spcAft>
            </a:pPr>
            <a:endParaRPr sz="1050" b="0">
              <a:solidFill>
                <a:srgbClr val="2B2B2B"/>
              </a:solidFill>
              <a:latin typeface="Courier New"/>
            </a:endParaRPr>
          </a:p>
          <a:p>
            <a:pPr algn="l">
              <a:spcAft>
                <a:spcPts val="0"/>
              </a:spcAft>
            </a:pPr>
            <a:r>
              <a:rPr sz="1050" b="1">
                <a:solidFill>
                  <a:srgbClr val="1F3A6E"/>
                </a:solidFill>
                <a:latin typeface="Courier New"/>
              </a:rPr>
              <a:t>CREATE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TABLE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Course (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Course_ID    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NUMBER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PRIMARY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KEY</a:t>
            </a:r>
            <a:r>
              <a:rPr sz="1050" b="0">
                <a:solidFill>
                  <a:srgbClr val="2B2B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Course_Name  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VARCHAR2</a:t>
            </a:r>
            <a:r>
              <a:rPr sz="1050" b="0">
                <a:solidFill>
                  <a:srgbClr val="2B2B2B"/>
                </a:solidFill>
                <a:latin typeface="Courier New"/>
              </a:rPr>
              <a:t>(80)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NOT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NULL</a:t>
            </a:r>
            <a:r>
              <a:rPr sz="1050" b="0">
                <a:solidFill>
                  <a:srgbClr val="2B2B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Credits      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NUMBER</a:t>
            </a:r>
            <a:r>
              <a:rPr sz="1050" b="0">
                <a:solidFill>
                  <a:srgbClr val="2B2B2B"/>
                </a:solidFill>
                <a:latin typeface="Courier New"/>
              </a:rPr>
              <a:t>(1)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             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CHECK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(Credits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BETWEEN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1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AND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6),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Department_ID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NUMBER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NOT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NULL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             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REFERENCES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Department(Department_ID),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Faculty_ID   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NUMBER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                </a:t>
            </a:r>
            <a:r>
              <a:rPr sz="1050" b="1">
                <a:solidFill>
                  <a:srgbClr val="1F3A6E"/>
                </a:solidFill>
                <a:latin typeface="Courier New"/>
              </a:rPr>
              <a:t>REFERENCES</a:t>
            </a:r>
            <a:r>
              <a:rPr sz="1050" b="0">
                <a:solidFill>
                  <a:srgbClr val="2B2B2B"/>
                </a:solidFill>
                <a:latin typeface="Courier New"/>
              </a:rPr>
              <a:t> Faculty(Faculty_ID)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Courier New"/>
              </a:rPr>
              <a:t>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897880"/>
            <a:ext cx="11091672" cy="54864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3A6E"/>
                </a:solidFill>
                <a:latin typeface="Calibri"/>
              </a:rPr>
              <a:t>Inline constraints: </a:t>
            </a:r>
            <a:r>
              <a:rPr sz="1400" b="0">
                <a:solidFill>
                  <a:srgbClr val="222222"/>
                </a:solidFill>
                <a:latin typeface="Calibri"/>
              </a:rPr>
              <a:t>PRIMARY KEY, NOT NULL, UNIQUE, CHECK and REFERENCES (foreign key) are declared with each column.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274320"/>
            <a:ext cx="914400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F3A6E"/>
                </a:solidFill>
                <a:latin typeface="Calibri"/>
              </a:rPr>
              <a:t>DDL: CREATE TABLE (2 OF 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1672" cy="4114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F3A6E"/>
                </a:solidFill>
                <a:latin typeface="Calibri"/>
              </a:rPr>
              <a:t>Transaction tables come last: Enrollment, Examination and Result.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6035040" cy="36576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3A6E"/>
                </a:solidFill>
                <a:latin typeface="Courier New"/>
              </a:rPr>
              <a:t>CREATE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TABLE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Enrollment (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Enrollment_ID  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NUMBER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PRIMARY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KEY</a:t>
            </a:r>
            <a:r>
              <a:rPr sz="1100" b="0">
                <a:solidFill>
                  <a:srgbClr val="2B2B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Student_ID     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NUMBER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NOT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NULL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REFERENCES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Student(Student_ID),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Course_ID      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NUMBER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NOT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NULL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REFERENCES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Course(Course_ID),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Enrollment_Date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DATE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DEFAULT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SYSDATE,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Semester       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NUMBER</a:t>
            </a:r>
            <a:r>
              <a:rPr sz="1100" b="0">
                <a:solidFill>
                  <a:srgbClr val="2B2B2B"/>
                </a:solidFill>
                <a:latin typeface="Courier New"/>
              </a:rPr>
              <a:t>(1)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CHECK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(Semester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BETWEEN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1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AND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8),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UNIQUE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(Student_ID, Course_ID)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);</a:t>
            </a:r>
          </a:p>
          <a:p>
            <a:pPr algn="l">
              <a:spcAft>
                <a:spcPts val="0"/>
              </a:spcAft>
            </a:pPr>
            <a:endParaRPr sz="1100" b="0">
              <a:solidFill>
                <a:srgbClr val="2B2B2B"/>
              </a:solidFill>
              <a:latin typeface="Courier New"/>
            </a:endParaRP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1F3A6E"/>
                </a:solidFill>
                <a:latin typeface="Courier New"/>
              </a:rPr>
              <a:t>CREATE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TABLE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Examination (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Exam_ID   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NUMBER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PRIMARY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KEY</a:t>
            </a:r>
            <a:r>
              <a:rPr sz="1100" b="0">
                <a:solidFill>
                  <a:srgbClr val="2B2B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Course_ID 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NUMBER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NOT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NULL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REFERENCES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Course(Course_ID),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Exam_Date 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DATE</a:t>
            </a:r>
            <a:r>
              <a:rPr sz="1100" b="0">
                <a:solidFill>
                  <a:srgbClr val="2B2B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Exam_Type 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VARCHAR2</a:t>
            </a:r>
            <a:r>
              <a:rPr sz="1100" b="0">
                <a:solidFill>
                  <a:srgbClr val="2B2B2B"/>
                </a:solidFill>
                <a:latin typeface="Courier New"/>
              </a:rPr>
              <a:t>(10)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          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CHECK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(Exam_Type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IN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('Mid','End')),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Max_Marks 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NUMBER</a:t>
            </a:r>
            <a:r>
              <a:rPr sz="1100" b="0">
                <a:solidFill>
                  <a:srgbClr val="2B2B2B"/>
                </a:solidFill>
                <a:latin typeface="Courier New"/>
              </a:rPr>
              <a:t>(3)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CHECK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(Max_Marks &gt; 0)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);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783080"/>
            <a:ext cx="4873752" cy="27432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3A6E"/>
                </a:solidFill>
                <a:latin typeface="Courier New"/>
              </a:rPr>
              <a:t>CREATE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TABLE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Result (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Result_ID     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NUMBER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PRIMARY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KEY</a:t>
            </a:r>
            <a:r>
              <a:rPr sz="1100" b="0">
                <a:solidFill>
                  <a:srgbClr val="2B2B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Exam_ID       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NUMBER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NOT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NULL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              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REFERENCES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Examination(Exam_ID),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Student_ID    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NUMBER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NOT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NULL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              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REFERENCES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Student(Student_ID),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Marks_Obtained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NUMBER</a:t>
            </a:r>
            <a:r>
              <a:rPr sz="1100" b="0">
                <a:solidFill>
                  <a:srgbClr val="2B2B2B"/>
                </a:solidFill>
                <a:latin typeface="Courier New"/>
              </a:rPr>
              <a:t>(5,2)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              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CHECK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(Marks_Obtained &gt;= 0),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Grade         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VARCHAR2</a:t>
            </a:r>
            <a:r>
              <a:rPr sz="1100" b="0">
                <a:solidFill>
                  <a:srgbClr val="2B2B2B"/>
                </a:solidFill>
                <a:latin typeface="Courier New"/>
              </a:rPr>
              <a:t>(2),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UNIQUE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(Exam_ID, Student_ID)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623560"/>
            <a:ext cx="6035040" cy="8229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3A6E"/>
                </a:solidFill>
                <a:latin typeface="Calibri"/>
              </a:rPr>
              <a:t>Composite UNIQUE keys </a:t>
            </a:r>
            <a:r>
              <a:rPr sz="1400" b="0">
                <a:solidFill>
                  <a:srgbClr val="222222"/>
                </a:solidFill>
                <a:latin typeface="Calibri"/>
              </a:rPr>
              <a:t>stop a student enrolling twice in one course, or getting two results for one exam.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4709160"/>
            <a:ext cx="4873752" cy="17373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3A6E"/>
                </a:solidFill>
                <a:latin typeface="Calibri"/>
              </a:rPr>
              <a:t>Creation order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1. Department   2. Faculty   3. Course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4. Student   5. Enrollment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6. Examination   7. Result</a:t>
            </a:r>
          </a:p>
          <a:p>
            <a:pPr algn="l">
              <a:spcAft>
                <a:spcPts val="0"/>
              </a:spcAft>
            </a:pPr>
            <a:endParaRPr sz="1400" b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Drop order is the reverse of this.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274320"/>
            <a:ext cx="914400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F3A6E"/>
                </a:solidFill>
                <a:latin typeface="Calibri"/>
              </a:rPr>
              <a:t>SAMPLE DATA INSERTION (DML)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1672" cy="4114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F3A6E"/>
                </a:solidFill>
                <a:latin typeface="Calibri"/>
              </a:rPr>
              <a:t>One row shown per table; 55 rows were inserted in total, parents before children.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7680960" cy="46634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t"/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3A6E"/>
                </a:solidFill>
                <a:latin typeface="Courier New"/>
              </a:rPr>
              <a:t>INSERT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</a:t>
            </a:r>
            <a:r>
              <a:rPr sz="1250" b="1">
                <a:solidFill>
                  <a:srgbClr val="1F3A6E"/>
                </a:solidFill>
                <a:latin typeface="Courier New"/>
              </a:rPr>
              <a:t>INTO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Department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urier New"/>
              </a:rPr>
              <a:t>  </a:t>
            </a:r>
            <a:r>
              <a:rPr sz="1250" b="1">
                <a:solidFill>
                  <a:srgbClr val="1F3A6E"/>
                </a:solidFill>
                <a:latin typeface="Courier New"/>
              </a:rPr>
              <a:t>VALUES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(1, 'Computer Science &amp; Engg', 'Block A', 'Dr. R.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urier New"/>
              </a:rPr>
              <a:t>         Venkatesh');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1F3A6E"/>
                </a:solidFill>
                <a:latin typeface="Courier New"/>
              </a:rPr>
              <a:t>INSERT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</a:t>
            </a:r>
            <a:r>
              <a:rPr sz="1250" b="1">
                <a:solidFill>
                  <a:srgbClr val="1F3A6E"/>
                </a:solidFill>
                <a:latin typeface="Courier New"/>
              </a:rPr>
              <a:t>INTO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Faculty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urier New"/>
              </a:rPr>
              <a:t>  </a:t>
            </a:r>
            <a:r>
              <a:rPr sz="1250" b="1">
                <a:solidFill>
                  <a:srgbClr val="1F3A6E"/>
                </a:solidFill>
                <a:latin typeface="Courier New"/>
              </a:rPr>
              <a:t>VALUES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(201, 'Dr. R. Venkatesh', 'venkatesh@aditya.edu.in',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urier New"/>
              </a:rPr>
              <a:t>         'Professor', 1);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1F3A6E"/>
                </a:solidFill>
                <a:latin typeface="Courier New"/>
              </a:rPr>
              <a:t>INSERT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</a:t>
            </a:r>
            <a:r>
              <a:rPr sz="1250" b="1">
                <a:solidFill>
                  <a:srgbClr val="1F3A6E"/>
                </a:solidFill>
                <a:latin typeface="Courier New"/>
              </a:rPr>
              <a:t>INTO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Course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urier New"/>
              </a:rPr>
              <a:t>  </a:t>
            </a:r>
            <a:r>
              <a:rPr sz="1250" b="1">
                <a:solidFill>
                  <a:srgbClr val="1F3A6E"/>
                </a:solidFill>
                <a:latin typeface="Courier New"/>
              </a:rPr>
              <a:t>VALUES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(301, 'Database Management Systems', 4, 1, 202);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1F3A6E"/>
                </a:solidFill>
                <a:latin typeface="Courier New"/>
              </a:rPr>
              <a:t>INSERT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</a:t>
            </a:r>
            <a:r>
              <a:rPr sz="1250" b="1">
                <a:solidFill>
                  <a:srgbClr val="1F3A6E"/>
                </a:solidFill>
                <a:latin typeface="Courier New"/>
              </a:rPr>
              <a:t>INTO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Student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urier New"/>
              </a:rPr>
              <a:t>  </a:t>
            </a:r>
            <a:r>
              <a:rPr sz="1250" b="1">
                <a:solidFill>
                  <a:srgbClr val="1F3A6E"/>
                </a:solidFill>
                <a:latin typeface="Courier New"/>
              </a:rPr>
              <a:t>VALUES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(101, 'Ravi Teja', </a:t>
            </a:r>
            <a:r>
              <a:rPr sz="1250" b="1">
                <a:solidFill>
                  <a:srgbClr val="1F3A6E"/>
                </a:solidFill>
                <a:latin typeface="Courier New"/>
              </a:rPr>
              <a:t>DATE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'2005-03-14', 'Male',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urier New"/>
              </a:rPr>
              <a:t>         'ravi.teja@aditya.edu.in', 1);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1F3A6E"/>
                </a:solidFill>
                <a:latin typeface="Courier New"/>
              </a:rPr>
              <a:t>INSERT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</a:t>
            </a:r>
            <a:r>
              <a:rPr sz="1250" b="1">
                <a:solidFill>
                  <a:srgbClr val="1F3A6E"/>
                </a:solidFill>
                <a:latin typeface="Courier New"/>
              </a:rPr>
              <a:t>INTO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Enrollment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urier New"/>
              </a:rPr>
              <a:t>  </a:t>
            </a:r>
            <a:r>
              <a:rPr sz="1250" b="1">
                <a:solidFill>
                  <a:srgbClr val="1F3A6E"/>
                </a:solidFill>
                <a:latin typeface="Courier New"/>
              </a:rPr>
              <a:t>VALUES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(401, 101, 301, </a:t>
            </a:r>
            <a:r>
              <a:rPr sz="1250" b="1">
                <a:solidFill>
                  <a:srgbClr val="1F3A6E"/>
                </a:solidFill>
                <a:latin typeface="Courier New"/>
              </a:rPr>
              <a:t>DATE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'2026-01-12', 4);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1F3A6E"/>
                </a:solidFill>
                <a:latin typeface="Courier New"/>
              </a:rPr>
              <a:t>INSERT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</a:t>
            </a:r>
            <a:r>
              <a:rPr sz="1250" b="1">
                <a:solidFill>
                  <a:srgbClr val="1F3A6E"/>
                </a:solidFill>
                <a:latin typeface="Courier New"/>
              </a:rPr>
              <a:t>INTO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Examination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urier New"/>
              </a:rPr>
              <a:t>  </a:t>
            </a:r>
            <a:r>
              <a:rPr sz="1250" b="1">
                <a:solidFill>
                  <a:srgbClr val="1F3A6E"/>
                </a:solidFill>
                <a:latin typeface="Courier New"/>
              </a:rPr>
              <a:t>VALUES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(601, 301, </a:t>
            </a:r>
            <a:r>
              <a:rPr sz="1250" b="1">
                <a:solidFill>
                  <a:srgbClr val="1F3A6E"/>
                </a:solidFill>
                <a:latin typeface="Courier New"/>
              </a:rPr>
              <a:t>DATE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'2026-04-22', 'End', 100);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1F3A6E"/>
                </a:solidFill>
                <a:latin typeface="Courier New"/>
              </a:rPr>
              <a:t>INSERT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</a:t>
            </a:r>
            <a:r>
              <a:rPr sz="1250" b="1">
                <a:solidFill>
                  <a:srgbClr val="1F3A6E"/>
                </a:solidFill>
                <a:latin typeface="Courier New"/>
              </a:rPr>
              <a:t>INTO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Result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urier New"/>
              </a:rPr>
              <a:t>  </a:t>
            </a:r>
            <a:r>
              <a:rPr sz="1250" b="1">
                <a:solidFill>
                  <a:srgbClr val="1F3A6E"/>
                </a:solidFill>
                <a:latin typeface="Courier New"/>
              </a:rPr>
              <a:t>VALUES</a:t>
            </a:r>
            <a:r>
              <a:rPr sz="1250" b="0">
                <a:solidFill>
                  <a:srgbClr val="2B2B2B"/>
                </a:solidFill>
                <a:latin typeface="Courier New"/>
              </a:rPr>
              <a:t> (701, 601, 101, 88, 'A');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1F3A6E"/>
                </a:solidFill>
                <a:latin typeface="Courier New"/>
              </a:rPr>
              <a:t>COMMIT</a:t>
            </a:r>
            <a:r>
              <a:rPr sz="1250" b="0">
                <a:solidFill>
                  <a:srgbClr val="2B2B2B"/>
                </a:solidFill>
                <a:latin typeface="Courier New"/>
              </a:rPr>
              <a:t>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783080"/>
            <a:ext cx="3227832" cy="576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B5"/>
                </a:solidFill>
                <a:latin typeface="Calibri"/>
              </a:rPr>
              <a:t>Department   </a:t>
            </a:r>
            <a:r>
              <a:rPr sz="1400" b="0">
                <a:solidFill>
                  <a:srgbClr val="222222"/>
                </a:solidFill>
                <a:latin typeface="Calibri"/>
              </a:rPr>
              <a:t>4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450591"/>
            <a:ext cx="3227832" cy="576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B3FA0"/>
                </a:solidFill>
                <a:latin typeface="Calibri"/>
              </a:rPr>
              <a:t>Faculty   </a:t>
            </a:r>
            <a:r>
              <a:rPr sz="1400" b="0">
                <a:solidFill>
                  <a:srgbClr val="222222"/>
                </a:solidFill>
                <a:latin typeface="Calibri"/>
              </a:rPr>
              <a:t>6 rows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3118104"/>
            <a:ext cx="3227832" cy="576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Course   </a:t>
            </a:r>
            <a:r>
              <a:rPr sz="1400" b="0">
                <a:solidFill>
                  <a:srgbClr val="222222"/>
                </a:solidFill>
                <a:latin typeface="Calibri"/>
              </a:rPr>
              <a:t>6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3785615"/>
            <a:ext cx="3227832" cy="576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E8B57"/>
                </a:solidFill>
                <a:latin typeface="Calibri"/>
              </a:rPr>
              <a:t>Student   </a:t>
            </a:r>
            <a:r>
              <a:rPr sz="1400" b="0">
                <a:solidFill>
                  <a:srgbClr val="222222"/>
                </a:solidFill>
                <a:latin typeface="Calibri"/>
              </a:rPr>
              <a:t>10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4453128"/>
            <a:ext cx="3227832" cy="576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2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808C"/>
                </a:solidFill>
                <a:latin typeface="Calibri"/>
              </a:rPr>
              <a:t>Enrollment   </a:t>
            </a:r>
            <a:r>
              <a:rPr sz="1400" b="0">
                <a:solidFill>
                  <a:srgbClr val="222222"/>
                </a:solidFill>
                <a:latin typeface="Calibri"/>
              </a:rPr>
              <a:t>12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5120640"/>
            <a:ext cx="3227832" cy="576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B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B5A2B"/>
                </a:solidFill>
                <a:latin typeface="Calibri"/>
              </a:rPr>
              <a:t>Examination   </a:t>
            </a:r>
            <a:r>
              <a:rPr sz="1400" b="0">
                <a:solidFill>
                  <a:srgbClr val="222222"/>
                </a:solidFill>
                <a:latin typeface="Calibri"/>
              </a:rPr>
              <a:t>5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5788152"/>
            <a:ext cx="3227832" cy="576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21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2185B"/>
                </a:solidFill>
                <a:latin typeface="Calibri"/>
              </a:rPr>
              <a:t>Result   </a:t>
            </a:r>
            <a:r>
              <a:rPr sz="1400" b="0">
                <a:solidFill>
                  <a:srgbClr val="222222"/>
                </a:solidFill>
                <a:latin typeface="Calibri"/>
              </a:rPr>
              <a:t>12 rows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274320"/>
            <a:ext cx="914400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F3A6E"/>
                </a:solidFill>
                <a:latin typeface="Calibri"/>
              </a:rPr>
              <a:t>SAMPLE DATA: MASTER TABLES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1672" cy="4114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F3A6E"/>
                </a:solidFill>
                <a:latin typeface="Calibri"/>
              </a:rPr>
              <a:t>Output of  SELECT * FROM &lt;table&gt;  for the Department, Faculty and Course tables.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029200" cy="27432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B5"/>
                </a:solidFill>
                <a:latin typeface="Calibri"/>
              </a:rPr>
              <a:t>DEPARTMENT</a:t>
            </a:r>
            <a:r>
              <a:rPr sz="1100" b="0">
                <a:solidFill>
                  <a:srgbClr val="666666"/>
                </a:solidFill>
                <a:latin typeface="Calibri"/>
              </a:rPr>
              <a:t>   4 rows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84831"/>
          <a:ext cx="5029200" cy="141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Department_ID</a:t>
                      </a:r>
                    </a:p>
                  </a:txBody>
                  <a:tcPr marL="54864" marR="54864" marT="18288" marB="18288" anchor="ctr">
                    <a:solidFill>
                      <a:srgbClr val="1F6F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Department_Name</a:t>
                      </a:r>
                    </a:p>
                  </a:txBody>
                  <a:tcPr marL="54864" marR="54864" marT="18288" marB="18288" anchor="ctr">
                    <a:solidFill>
                      <a:srgbClr val="1F6F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 marL="54864" marR="54864" marT="18288" marB="18288" anchor="ctr">
                    <a:solidFill>
                      <a:srgbClr val="1F6F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HOD</a:t>
                      </a:r>
                    </a:p>
                  </a:txBody>
                  <a:tcPr marL="54864" marR="54864" marT="18288" marB="18288" anchor="ctr">
                    <a:solidFill>
                      <a:srgbClr val="1F6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Computer Science &amp; Engg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Block 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Dr. R. Venkatesh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AI &amp; Machine Learning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Block B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Dr. S. Lakshmi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Electronics &amp; Comm.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Block 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Dr. K. Prasad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Mechanical Engineering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Block D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Dr. P. Narasimha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39"/>
            <a:ext cx="5029200" cy="27432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D7D31"/>
                </a:solidFill>
                <a:latin typeface="Calibri"/>
              </a:rPr>
              <a:t>COURSE</a:t>
            </a:r>
            <a:r>
              <a:rPr sz="1100" b="0">
                <a:solidFill>
                  <a:srgbClr val="666666"/>
                </a:solidFill>
                <a:latin typeface="Calibri"/>
              </a:rPr>
              <a:t>   6 rows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050791"/>
          <a:ext cx="5029200" cy="2057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Course_ID</a:t>
                      </a:r>
                    </a:p>
                  </a:txBody>
                  <a:tcPr marL="54864" marR="54864" marT="18288" marB="18288"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Course_Name</a:t>
                      </a:r>
                    </a:p>
                  </a:txBody>
                  <a:tcPr marL="54864" marR="54864" marT="18288" marB="18288"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Credits</a:t>
                      </a:r>
                    </a:p>
                  </a:txBody>
                  <a:tcPr marL="54864" marR="54864" marT="18288" marB="18288"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Department_ID</a:t>
                      </a:r>
                    </a:p>
                  </a:txBody>
                  <a:tcPr marL="54864" marR="54864" marT="18288" marB="18288"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Faculty_ID</a:t>
                      </a:r>
                    </a:p>
                  </a:txBody>
                  <a:tcPr marL="54864" marR="54864" marT="18288" marB="18288"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301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Database Management Systems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302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Data Structures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201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303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Machine Learning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304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Python Programming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204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305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Digital Electronics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306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Thermodynamics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206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60720" y="1783080"/>
            <a:ext cx="5879592" cy="27432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3FA0"/>
                </a:solidFill>
                <a:latin typeface="Calibri"/>
              </a:rPr>
              <a:t>FACULTY</a:t>
            </a:r>
            <a:r>
              <a:rPr sz="1100" b="0">
                <a:solidFill>
                  <a:srgbClr val="666666"/>
                </a:solidFill>
                <a:latin typeface="Calibri"/>
              </a:rPr>
              <a:t>   6 rows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720" y="2084831"/>
          <a:ext cx="5879592" cy="1984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Faculty_ID</a:t>
                      </a:r>
                    </a:p>
                  </a:txBody>
                  <a:tcPr marL="54864" marR="54864" marT="18288" marB="18288" anchor="ctr"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Faculty_Name</a:t>
                      </a:r>
                    </a:p>
                  </a:txBody>
                  <a:tcPr marL="54864" marR="54864" marT="18288" marB="18288" anchor="ctr"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marL="54864" marR="54864" marT="18288" marB="18288" anchor="ctr"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Designation</a:t>
                      </a:r>
                    </a:p>
                  </a:txBody>
                  <a:tcPr marL="54864" marR="54864" marT="18288" marB="18288" anchor="ctr"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Department_ID</a:t>
                      </a:r>
                    </a:p>
                  </a:txBody>
                  <a:tcPr marL="54864" marR="54864" marT="18288" marB="18288" anchor="ctr">
                    <a:solidFill>
                      <a:srgbClr val="6B3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Dr. R. Venkatesh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venkatesh@aditya.edu.in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Professor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202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A. Sravani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sravani@aditya.edu.in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Asst. Professor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Dr. S. Lakshmi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lakshmi@aditya.edu.in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Professor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204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T. Kiran Kumar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kiran@aditya.edu.in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Asst. Professor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Dr. K. Prasad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prasad@aditya.edu.in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Assoc. Professor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206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Dr. P. Narasimha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narasimha@aditya.edu.in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Professor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760720" y="4343400"/>
            <a:ext cx="5879592" cy="21031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3A6E"/>
                </a:solidFill>
                <a:latin typeface="Calibri"/>
              </a:rPr>
              <a:t>How the tables link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Faculty.Department_ID → Department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Course.Department_ID → Department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Course.Faculty_ID → Faculty</a:t>
            </a:r>
          </a:p>
          <a:p>
            <a:pPr algn="l">
              <a:spcAft>
                <a:spcPts val="0"/>
              </a:spcAft>
            </a:pPr>
            <a:endParaRPr sz="1400" b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Every foreign key value above exists in its parent table.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274320"/>
            <a:ext cx="914400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F3A6E"/>
                </a:solidFill>
                <a:latin typeface="Calibri"/>
              </a:rPr>
              <a:t>SAMPLE DATA: STUDENT AND EXAMINATION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1672" cy="4114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F3A6E"/>
                </a:solidFill>
                <a:latin typeface="Calibri"/>
              </a:rPr>
              <a:t>Ten students across four departments, and five scheduled examinations.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6583680" cy="27432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8B57"/>
                </a:solidFill>
                <a:latin typeface="Calibri"/>
              </a:rPr>
              <a:t>STUDENT</a:t>
            </a:r>
            <a:r>
              <a:rPr sz="1100" b="0">
                <a:solidFill>
                  <a:srgbClr val="666666"/>
                </a:solidFill>
                <a:latin typeface="Calibri"/>
              </a:rPr>
              <a:t>   10 rows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84831"/>
          <a:ext cx="6583677" cy="34198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9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6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3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0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09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27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Student_ID</a:t>
                      </a:r>
                    </a:p>
                  </a:txBody>
                  <a:tcPr marL="54864" marR="54864" marT="18288" marB="18288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Student_Name</a:t>
                      </a:r>
                    </a:p>
                  </a:txBody>
                  <a:tcPr marL="54864" marR="54864" marT="18288" marB="18288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DOB</a:t>
                      </a:r>
                    </a:p>
                  </a:txBody>
                  <a:tcPr marL="54864" marR="54864" marT="18288" marB="18288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Gender</a:t>
                      </a:r>
                    </a:p>
                  </a:txBody>
                  <a:tcPr marL="54864" marR="54864" marT="18288" marB="18288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marL="54864" marR="54864" marT="18288" marB="18288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Department_ID</a:t>
                      </a:r>
                    </a:p>
                  </a:txBody>
                  <a:tcPr marL="54864" marR="54864" marT="18288" marB="18288" anchor="ctr">
                    <a:solidFill>
                      <a:srgbClr val="2E8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Ravi Teja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14-MAR-2005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ravi.teja@aditya.edu.in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Sneha Reddy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22-JUL-2005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sneha.reddy@aditya.edu.in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Karthik Varma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05-NOV-2005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karthik.varma@aditya.edu.in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Divya Sri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18-JAN-2006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divya.sri@aditya.edu.in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Arjun Naidu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30-SEP-2005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arjun.naidu@aditya.edu.in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Pooja Chowdary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12-MAY-2005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pooja.chowdary@aditya.edu.in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Harsha Vardhan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08-DEC-2005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harsha.vardhan@aditya.edu.in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Meghana Rao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27-FEB-2006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meghana.rao@aditya.edu.in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Anil Kumar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16-APR-2005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anil.kumar@aditya.edu.in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Lakshmi Prasanna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09-AUG-2005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lakshmi.p@aditya.edu.in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1783080"/>
            <a:ext cx="4325112" cy="27432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8B5A2B"/>
                </a:solidFill>
                <a:latin typeface="Calibri"/>
              </a:rPr>
              <a:t>EXAMINATION</a:t>
            </a:r>
            <a:r>
              <a:rPr sz="1100" b="0">
                <a:solidFill>
                  <a:srgbClr val="666666"/>
                </a:solidFill>
                <a:latin typeface="Calibri"/>
              </a:rPr>
              <a:t>   5 rows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2084831"/>
          <a:ext cx="4325112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Exam_ID</a:t>
                      </a:r>
                    </a:p>
                  </a:txBody>
                  <a:tcPr marL="54864" marR="54864" marT="18288" marB="18288" anchor="ctr"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Course_ID</a:t>
                      </a:r>
                    </a:p>
                  </a:txBody>
                  <a:tcPr marL="54864" marR="54864" marT="18288" marB="18288" anchor="ctr"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Exam_Date</a:t>
                      </a:r>
                    </a:p>
                  </a:txBody>
                  <a:tcPr marL="54864" marR="54864" marT="18288" marB="18288" anchor="ctr"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Exam_Type</a:t>
                      </a:r>
                    </a:p>
                  </a:txBody>
                  <a:tcPr marL="54864" marR="54864" marT="18288" marB="18288" anchor="ctr"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Max_Marks</a:t>
                      </a:r>
                    </a:p>
                  </a:txBody>
                  <a:tcPr marL="54864" marR="54864" marT="18288" marB="18288" anchor="ctr">
                    <a:solidFill>
                      <a:srgbClr val="8B5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601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301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22-APR-2026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End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602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302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24-APR-2026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End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603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303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27-APR-2026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End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604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305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29-APR-2026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End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605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301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25-FEB-2026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Mid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4114800"/>
            <a:ext cx="4325112" cy="17373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3A6E"/>
                </a:solidFill>
                <a:latin typeface="Calibri"/>
              </a:rPr>
              <a:t>Exam_Type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End = 100 marks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Mid = 50 marks</a:t>
            </a:r>
          </a:p>
          <a:p>
            <a:pPr algn="l">
              <a:spcAft>
                <a:spcPts val="0"/>
              </a:spcAft>
            </a:pPr>
            <a:endParaRPr sz="1400" b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Grades use marks / Max_Marks.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274320"/>
            <a:ext cx="914400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F3A6E"/>
                </a:solidFill>
                <a:latin typeface="Calibri"/>
              </a:rPr>
              <a:t>SAMPLE DATA: ENROLLMENT AND RESULT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1672" cy="4114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F3A6E"/>
                </a:solidFill>
                <a:latin typeface="Calibri"/>
              </a:rPr>
              <a:t>Twelve enrollments and twelve results; Grade is derived from marks / Max_Marks.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808C"/>
                </a:solidFill>
                <a:latin typeface="Calibri"/>
              </a:rPr>
              <a:t>ENROLLMENT</a:t>
            </a:r>
            <a:r>
              <a:rPr sz="1100" b="0">
                <a:solidFill>
                  <a:srgbClr val="666666"/>
                </a:solidFill>
                <a:latin typeface="Calibri"/>
              </a:rPr>
              <a:t>   12 rows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84831"/>
          <a:ext cx="5486397" cy="4041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4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8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7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21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Enrollment_ID</a:t>
                      </a:r>
                    </a:p>
                  </a:txBody>
                  <a:tcPr marL="54864" marR="54864" marT="18288" marB="18288" anchor="ctr">
                    <a:solidFill>
                      <a:srgbClr val="128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Student_ID</a:t>
                      </a:r>
                    </a:p>
                  </a:txBody>
                  <a:tcPr marL="54864" marR="54864" marT="18288" marB="18288" anchor="ctr">
                    <a:solidFill>
                      <a:srgbClr val="128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Course_ID</a:t>
                      </a:r>
                    </a:p>
                  </a:txBody>
                  <a:tcPr marL="54864" marR="54864" marT="18288" marB="18288" anchor="ctr">
                    <a:solidFill>
                      <a:srgbClr val="128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Enrollment_Date</a:t>
                      </a:r>
                    </a:p>
                  </a:txBody>
                  <a:tcPr marL="54864" marR="54864" marT="18288" marB="18288" anchor="ctr">
                    <a:solidFill>
                      <a:srgbClr val="128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Semester</a:t>
                      </a:r>
                    </a:p>
                  </a:txBody>
                  <a:tcPr marL="54864" marR="54864" marT="18288" marB="18288" anchor="ctr">
                    <a:solidFill>
                      <a:srgbClr val="1280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12-JAN-2026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402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302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12-JAN-2026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13-JAN-2026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404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301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12-JAN-2026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12-JAN-2026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406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303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13-JAN-2026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14-JAN-2026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408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301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12-JAN-2026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13-JAN-2026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410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306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14-JAN-2026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14-JAN-2026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412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301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12-JAN-2026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99632" y="1783080"/>
            <a:ext cx="5440680" cy="27432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2185B"/>
                </a:solidFill>
                <a:latin typeface="Calibri"/>
              </a:rPr>
              <a:t>RESULT</a:t>
            </a:r>
            <a:r>
              <a:rPr sz="1100" b="0">
                <a:solidFill>
                  <a:srgbClr val="666666"/>
                </a:solidFill>
                <a:latin typeface="Calibri"/>
              </a:rPr>
              <a:t>   12 rows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99632" y="2084831"/>
          <a:ext cx="5440680" cy="4041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8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8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5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Result_ID</a:t>
                      </a:r>
                    </a:p>
                  </a:txBody>
                  <a:tcPr marL="54864" marR="54864" marT="18288" marB="18288" anchor="ctr">
                    <a:solidFill>
                      <a:srgbClr val="C21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Exam_ID</a:t>
                      </a:r>
                    </a:p>
                  </a:txBody>
                  <a:tcPr marL="54864" marR="54864" marT="18288" marB="18288" anchor="ctr">
                    <a:solidFill>
                      <a:srgbClr val="C21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Student_ID</a:t>
                      </a:r>
                    </a:p>
                  </a:txBody>
                  <a:tcPr marL="54864" marR="54864" marT="18288" marB="18288" anchor="ctr">
                    <a:solidFill>
                      <a:srgbClr val="C21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Marks_Obtained</a:t>
                      </a:r>
                    </a:p>
                  </a:txBody>
                  <a:tcPr marL="54864" marR="54864" marT="18288" marB="18288" anchor="ctr">
                    <a:solidFill>
                      <a:srgbClr val="C21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Grade</a:t>
                      </a:r>
                    </a:p>
                  </a:txBody>
                  <a:tcPr marL="54864" marR="54864" marT="18288" marB="18288" anchor="ctr">
                    <a:solidFill>
                      <a:srgbClr val="C218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702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601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704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601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706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603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708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604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710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602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712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605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274320"/>
            <a:ext cx="914400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F3A6E"/>
                </a:solidFill>
                <a:latin typeface="Calibri"/>
              </a:rPr>
              <a:t>DDL, DML AND DQL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1672" cy="4114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F3A6E"/>
                </a:solidFill>
                <a:latin typeface="Calibri"/>
              </a:rPr>
              <a:t>The three SQL sub-languages used in this project, with live results from our database.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61188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611880" cy="502920"/>
          </a:xfrm>
          <a:prstGeom prst="roundRect">
            <a:avLst>
              <a:gd name="adj" fmla="val 8000"/>
            </a:avLst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DDL: Define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3429000" cy="2926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Defines the structure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F6FB5"/>
                </a:solidFill>
                <a:latin typeface="Calibri"/>
              </a:rPr>
              <a:t>CREATE   ALTER   DROP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Add a column to Student: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F3A6E"/>
                </a:solidFill>
                <a:latin typeface="Courier New"/>
              </a:rPr>
              <a:t>ALTER TABLE Student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F3A6E"/>
                </a:solidFill>
                <a:latin typeface="Courier New"/>
              </a:rPr>
              <a:t>  ADD Phone_No VARCHAR2(15);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E8B57"/>
                </a:solidFill>
                <a:latin typeface="Calibri"/>
              </a:rPr>
              <a:t>Table altered.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8536" y="1783080"/>
            <a:ext cx="361188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88536" y="1783080"/>
            <a:ext cx="3611880" cy="50292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DML: Manipulate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5" y="2423160"/>
            <a:ext cx="3429000" cy="2926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Changes the data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2E8B57"/>
                </a:solidFill>
                <a:latin typeface="Calibri"/>
              </a:rPr>
              <a:t>INSERT   UPDATE   DELETE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F3A6E"/>
                </a:solidFill>
                <a:latin typeface="Courier New"/>
              </a:rPr>
              <a:t>UPDATE Course SET Credits = 4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F3A6E"/>
                </a:solidFill>
                <a:latin typeface="Courier New"/>
              </a:rPr>
              <a:t>  WHERE Course_ID = 303;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E8B57"/>
                </a:solidFill>
                <a:latin typeface="Calibri"/>
              </a:rPr>
              <a:t>1 row updated.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F3A6E"/>
                </a:solidFill>
                <a:latin typeface="Courier New"/>
              </a:rPr>
              <a:t>DELETE FROM Enrollment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F3A6E"/>
                </a:solidFill>
                <a:latin typeface="Courier New"/>
              </a:rPr>
              <a:t>  WHERE Enrollment_ID = 412;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E8B57"/>
                </a:solidFill>
                <a:latin typeface="Calibri"/>
              </a:rPr>
              <a:t>1 row deleted.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1783080"/>
            <a:ext cx="361188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28431" y="1783080"/>
            <a:ext cx="3611880" cy="50292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DQL: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1" y="2423160"/>
            <a:ext cx="3429000" cy="2926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Reads the data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D7D31"/>
                </a:solidFill>
                <a:latin typeface="Calibri"/>
              </a:rPr>
              <a:t>SELECT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Count all students: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F3A6E"/>
                </a:solidFill>
                <a:latin typeface="Courier New"/>
              </a:rPr>
              <a:t>SELECT COUNT(*)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F3A6E"/>
                </a:solidFill>
                <a:latin typeface="Courier New"/>
              </a:rPr>
              <a:t>  FROM Student;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E8B57"/>
                </a:solidFill>
                <a:latin typeface="Calibri"/>
              </a:rPr>
              <a:t>Result: 10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Joins, GROUP BY, HAVING and subqueries follow on the next slides.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77840"/>
            <a:ext cx="11091672" cy="8686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3A6E"/>
                </a:solidFill>
                <a:latin typeface="Calibri"/>
              </a:rPr>
              <a:t>In this project:  </a:t>
            </a:r>
            <a:r>
              <a:rPr sz="1600" b="0">
                <a:solidFill>
                  <a:srgbClr val="222222"/>
                </a:solidFill>
                <a:latin typeface="Calibri"/>
              </a:rPr>
              <a:t>DDL = 7 CREATE TABLE statements    DML = 55 rows inserted    DQL = 6 query outputs verified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274320"/>
            <a:ext cx="914400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F3A6E"/>
                </a:solidFill>
                <a:latin typeface="Calibri"/>
              </a:rPr>
              <a:t>SQL QUERIES AND OUTPUT (1 OF 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1672" cy="4114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F3A6E"/>
                </a:solidFill>
                <a:latin typeface="Calibri"/>
              </a:rPr>
              <a:t>Queries executed on the sample data; outputs below are the actual result sets.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029200" cy="1645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t"/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SELECT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Student_ID, Student_Name, Email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FROM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 Student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WHERE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Department_ID = 1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ORDER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BY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Student_Name;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764792"/>
            <a:ext cx="5852160" cy="27432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Q1  </a:t>
            </a:r>
            <a:r>
              <a:rPr sz="1300" b="1">
                <a:solidFill>
                  <a:srgbClr val="1F3A6E"/>
                </a:solidFill>
                <a:latin typeface="Calibri"/>
              </a:rPr>
              <a:t>Filter + Sort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60720" y="2075688"/>
          <a:ext cx="5852159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7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9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Student_ID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Student_Name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Karthik Varma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karthik.varma@aditya.edu.in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Lakshmi Prasanna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lakshmi.p@aditya.edu.in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Pooja Chowdary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pooja.chowdary@aditya.edu.in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Ravi Teja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ravi.teja@aditya.edu.in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60720" y="3493008"/>
            <a:ext cx="5852160" cy="27432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4 rows selected.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60520"/>
            <a:ext cx="5029200" cy="1645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t"/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SELECT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s.Student_Name, c.Course_Name,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urier New"/>
              </a:rPr>
              <a:t>       e.Semester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FROM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 Enrollment e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JOIN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 Student s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ON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e.Student_ID = s.Student_ID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JOIN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 Course  c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ON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e.Course_ID  = c.Course_ID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WHERE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c.Course_ID = 301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ORDER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BY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s.Student_Name;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142232"/>
            <a:ext cx="5852160" cy="27432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Q2  </a:t>
            </a:r>
            <a:r>
              <a:rPr sz="1300" b="1">
                <a:solidFill>
                  <a:srgbClr val="1F3A6E"/>
                </a:solidFill>
                <a:latin typeface="Calibri"/>
              </a:rPr>
              <a:t>Join: DBMS enrollments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0" y="4453128"/>
          <a:ext cx="585216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3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Student_Name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Course_Name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Semester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Karthik Varma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Database Management Systems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Lakshmi Prasanna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Database Management Systems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Pooja Chowdary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Database Management Systems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Ravi Teja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Database Management Systems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60720" y="5870448"/>
            <a:ext cx="5852160" cy="27432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4 rows selected.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274320"/>
            <a:ext cx="914400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F3A6E"/>
                </a:solidFill>
                <a:latin typeface="Calibri"/>
              </a:rPr>
              <a:t>SQL QUERIES AND OUTPUT (2 OF 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1672" cy="4114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F3A6E"/>
                </a:solidFill>
                <a:latin typeface="Calibri"/>
              </a:rPr>
              <a:t>Queries executed on the sample data; outputs below are the actual result sets.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029200" cy="1920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t"/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SELECT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s.Student_Name, c.Course_Name,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urier New"/>
              </a:rPr>
              <a:t>       r.Marks_Obtained, r.Grade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FROM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 Result r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JOIN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 Student     s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ON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r.Student_ID = s.Student_ID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JOIN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 Examination x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ON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r.Exam_ID    = x.Exam_ID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JOIN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 Course      c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ON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x.Course_ID  = c.Course_ID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WHERE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x.Exam_Type = 'End'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AND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  r.Marks_Obtained &gt;= 80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ORDER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BY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r.Marks_Obtained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DESC</a:t>
            </a:r>
            <a:r>
              <a:rPr sz="1150" b="0">
                <a:solidFill>
                  <a:srgbClr val="2B2B2B"/>
                </a:solidFill>
                <a:latin typeface="Courier New"/>
              </a:rPr>
              <a:t>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764792"/>
            <a:ext cx="5852160" cy="27432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Q3  </a:t>
            </a:r>
            <a:r>
              <a:rPr sz="1300" b="1">
                <a:solidFill>
                  <a:srgbClr val="1F3A6E"/>
                </a:solidFill>
                <a:latin typeface="Calibri"/>
              </a:rPr>
              <a:t>Result report (4-table join)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60720" y="2075688"/>
          <a:ext cx="593344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Student_Name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Course_Name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Marks_Obtained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Grade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Harsha Vardhan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Machine Learning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Pooja Chowdary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Database Management Systems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A+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Ravi Teja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Database Management Systems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Sneha Reddy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Machine Learning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60720" y="3493008"/>
            <a:ext cx="5852160" cy="27432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4 rows selected.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60520"/>
            <a:ext cx="5029200" cy="17373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t"/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SELECT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d.Department_Name,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urier New"/>
              </a:rPr>
              <a:t>      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COUNT</a:t>
            </a:r>
            <a:r>
              <a:rPr sz="1150" b="0">
                <a:solidFill>
                  <a:srgbClr val="2B2B2B"/>
                </a:solidFill>
                <a:latin typeface="Courier New"/>
              </a:rPr>
              <a:t>(s.Student_ID)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AS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Total_Students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FROM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 Department d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LEFT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JOIN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Student s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urier New"/>
              </a:rPr>
              <a:t>      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ON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d.Department_ID = s.Department_ID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GROUP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BY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d.Department_Name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ORDER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BY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Total_Students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DESC</a:t>
            </a:r>
            <a:r>
              <a:rPr sz="1150" b="0">
                <a:solidFill>
                  <a:srgbClr val="2B2B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urier New"/>
              </a:rPr>
              <a:t>          d.Department_Name;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142232"/>
            <a:ext cx="5852160" cy="27432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Q4  </a:t>
            </a:r>
            <a:r>
              <a:rPr sz="1300" b="1">
                <a:solidFill>
                  <a:srgbClr val="1F3A6E"/>
                </a:solidFill>
                <a:latin typeface="Calibri"/>
              </a:rPr>
              <a:t>GROUP BY: students per dept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0" y="4453128"/>
          <a:ext cx="5852159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3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Department_Name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Total_Students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Computer Science &amp; Engg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AI &amp; Machine Learning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Electronics &amp; Comm.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Mechanical Engineering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60720" y="5870448"/>
            <a:ext cx="5852160" cy="27432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4 rows selected.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274320"/>
            <a:ext cx="914400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F3A6E"/>
                </a:solidFill>
                <a:latin typeface="Calibri"/>
              </a:rPr>
              <a:t>SQL QUERIES AND OUTPUT (3 OF 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1672" cy="4114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F3A6E"/>
                </a:solidFill>
                <a:latin typeface="Calibri"/>
              </a:rPr>
              <a:t>Queries executed on the sample data; outputs below are the actual result sets.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029200" cy="1920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t"/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SELECT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c.Course_Name,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urier New"/>
              </a:rPr>
              <a:t>      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ROUND</a:t>
            </a:r>
            <a:r>
              <a:rPr sz="1150" b="0">
                <a:solidFill>
                  <a:srgbClr val="2B2B2B"/>
                </a:solidFill>
                <a:latin typeface="Courier New"/>
              </a:rPr>
              <a:t>(</a:t>
            </a:r>
            <a:r>
              <a:rPr sz="1150" b="1">
                <a:solidFill>
                  <a:srgbClr val="1F3A6E"/>
                </a:solidFill>
                <a:latin typeface="Courier New"/>
              </a:rPr>
              <a:t>AVG</a:t>
            </a:r>
            <a:r>
              <a:rPr sz="1150" b="0">
                <a:solidFill>
                  <a:srgbClr val="2B2B2B"/>
                </a:solidFill>
                <a:latin typeface="Courier New"/>
              </a:rPr>
              <a:t>(r.Marks_Obtained), 2)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AS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Avg_Marks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FROM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 Result r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JOIN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 Examination x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ON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r.Exam_ID   = x.Exam_ID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JOIN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 Course      c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ON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x.Course_ID = c.Course_ID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WHERE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x.Exam_Type = 'End'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GROUP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BY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c.Course_Name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HAVING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AVG</a:t>
            </a:r>
            <a:r>
              <a:rPr sz="1150" b="0">
                <a:solidFill>
                  <a:srgbClr val="2B2B2B"/>
                </a:solidFill>
                <a:latin typeface="Courier New"/>
              </a:rPr>
              <a:t>(r.Marks_Obtained) &gt; 70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ORDER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BY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Avg_Marks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DESC</a:t>
            </a:r>
            <a:r>
              <a:rPr sz="1150" b="0">
                <a:solidFill>
                  <a:srgbClr val="2B2B2B"/>
                </a:solidFill>
                <a:latin typeface="Courier New"/>
              </a:rPr>
              <a:t>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764792"/>
            <a:ext cx="5852160" cy="27432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Q5  </a:t>
            </a:r>
            <a:r>
              <a:rPr sz="1300" b="1">
                <a:solidFill>
                  <a:srgbClr val="1F3A6E"/>
                </a:solidFill>
                <a:latin typeface="Calibri"/>
              </a:rPr>
              <a:t>HAVING: course average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60720" y="2075688"/>
          <a:ext cx="5852159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80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2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Course_Name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Avg_Marks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Machine Learning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81.67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Data Structures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Database Management Systems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60720" y="3218687"/>
            <a:ext cx="5852160" cy="27432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3 rows selected.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60520"/>
            <a:ext cx="5029200" cy="1645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t"/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SELECT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Student_Name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FROM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 Student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WHERE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Student_ID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IN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urier New"/>
              </a:rPr>
              <a:t>       (</a:t>
            </a:r>
            <a:r>
              <a:rPr sz="1150" b="1">
                <a:solidFill>
                  <a:srgbClr val="1F3A6E"/>
                </a:solidFill>
                <a:latin typeface="Courier New"/>
              </a:rPr>
              <a:t>SELECT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Student_ID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FROM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Result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2B2B2B"/>
                </a:solidFill>
                <a:latin typeface="Courier New"/>
              </a:rPr>
              <a:t>       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WHERE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Grade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IN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('A', 'A+'))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1F3A6E"/>
                </a:solidFill>
                <a:latin typeface="Courier New"/>
              </a:rPr>
              <a:t>ORDER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 </a:t>
            </a:r>
            <a:r>
              <a:rPr sz="1150" b="1">
                <a:solidFill>
                  <a:srgbClr val="1F3A6E"/>
                </a:solidFill>
                <a:latin typeface="Courier New"/>
              </a:rPr>
              <a:t>BY</a:t>
            </a:r>
            <a:r>
              <a:rPr sz="1150" b="0">
                <a:solidFill>
                  <a:srgbClr val="2B2B2B"/>
                </a:solidFill>
                <a:latin typeface="Courier New"/>
              </a:rPr>
              <a:t> Student_Name;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142232"/>
            <a:ext cx="5852160" cy="27432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Q6  </a:t>
            </a:r>
            <a:r>
              <a:rPr sz="1300" b="1">
                <a:solidFill>
                  <a:srgbClr val="1F3A6E"/>
                </a:solidFill>
                <a:latin typeface="Calibri"/>
              </a:rPr>
              <a:t>Subquery: A / A+ students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0" y="4453128"/>
          <a:ext cx="585216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5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Student_Name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Harsha Vardhan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Pooja Chowdary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Ravi Teja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Sneha Reddy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60720" y="5870448"/>
            <a:ext cx="5852160" cy="27432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4 rows selected.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274320"/>
            <a:ext cx="914400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F3A6E"/>
                </a:solidFill>
                <a:latin typeface="Calibri"/>
              </a:rPr>
              <a:t>DATA INTEGRITY AND 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91672" cy="4114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F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F3A6E"/>
                </a:solidFill>
                <a:latin typeface="Calibri"/>
              </a:rPr>
              <a:t>Invalid data is rejected by the database. All six tests below were executed and rejected.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091672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Invalid operation attempted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Constraint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Oracle error raised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18288" marB="18288" anchor="ctr">
                    <a:solidFill>
                      <a:srgbClr val="1F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Insert Student with an existing Student_ID (101)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Primary Key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ORA-00001: unique constraint violated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8B57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Insert Student with Department_ID = 9 (no such dept)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Foreign Key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ORA-02291: parent key not found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8B57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Insert Student with Student_Name = NULL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NOT NULL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ORA-01400: cannot insert NULL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8B57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Insert Student with an existing Email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UNIQUE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ORA-00001: unique constraint violated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8B57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Insert Course with Credits = 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ORA-02290: check constraint violated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8B57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Delete Department 1 that still has students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Foreign Key (parent)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ORA-02292: child record found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8B57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54864" marR="54864" marT="18288" marB="18288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26280"/>
            <a:ext cx="10972800" cy="32004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3A6E"/>
                </a:solidFill>
                <a:latin typeface="Calibri"/>
              </a:rPr>
              <a:t>Validation queries</a:t>
            </a:r>
            <a:r>
              <a:rPr sz="1200" b="0">
                <a:solidFill>
                  <a:srgbClr val="666666"/>
                </a:solidFill>
                <a:latin typeface="Calibri"/>
              </a:rPr>
              <a:t>   (cross-table rules that a CHECK constraint cannot express)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92040"/>
            <a:ext cx="4023360" cy="15087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3A6E"/>
                </a:solidFill>
                <a:latin typeface="Courier New"/>
              </a:rPr>
              <a:t>SELECT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r.Result_ID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1F3A6E"/>
                </a:solidFill>
                <a:latin typeface="Courier New"/>
              </a:rPr>
              <a:t>FROM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  Result r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1F3A6E"/>
                </a:solidFill>
                <a:latin typeface="Courier New"/>
              </a:rPr>
              <a:t>JOIN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  Examination x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    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ON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r.Exam_ID = x.Exam_ID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1F3A6E"/>
                </a:solidFill>
                <a:latin typeface="Courier New"/>
              </a:rPr>
              <a:t>WHERE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 r.Marks_Obtained &gt; x.Max_Marks;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4892040"/>
            <a:ext cx="13258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2E8B57"/>
                </a:solidFill>
                <a:latin typeface="Calibri"/>
              </a:rPr>
              <a:t>0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rows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(no invalid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data)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4892040"/>
            <a:ext cx="4023360" cy="15087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3A6E"/>
                </a:solidFill>
                <a:latin typeface="Courier New"/>
              </a:rPr>
              <a:t>SELECT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s.Student_ID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1F3A6E"/>
                </a:solidFill>
                <a:latin typeface="Courier New"/>
              </a:rPr>
              <a:t>FROM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  Student s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1F3A6E"/>
                </a:solidFill>
                <a:latin typeface="Courier New"/>
              </a:rPr>
              <a:t>LEFT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JOIN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Department d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Courier New"/>
              </a:rPr>
              <a:t>      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ON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s.Department_ID = d.Department_ID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1F3A6E"/>
                </a:solidFill>
                <a:latin typeface="Courier New"/>
              </a:rPr>
              <a:t>WHERE</a:t>
            </a:r>
            <a:r>
              <a:rPr sz="1100" b="0">
                <a:solidFill>
                  <a:srgbClr val="2B2B2B"/>
                </a:solidFill>
                <a:latin typeface="Courier New"/>
              </a:rPr>
              <a:t>  d.Department_ID IS </a:t>
            </a:r>
            <a:r>
              <a:rPr sz="1100" b="1">
                <a:solidFill>
                  <a:srgbClr val="1F3A6E"/>
                </a:solidFill>
                <a:latin typeface="Courier New"/>
              </a:rPr>
              <a:t>NULL</a:t>
            </a:r>
            <a:r>
              <a:rPr sz="1100" b="0">
                <a:solidFill>
                  <a:srgbClr val="2B2B2B"/>
                </a:solidFill>
                <a:latin typeface="Courier New"/>
              </a:rPr>
              <a:t>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05288" y="4892040"/>
            <a:ext cx="13258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2E8B57"/>
                </a:solidFill>
                <a:latin typeface="Calibri"/>
              </a:rPr>
              <a:t>0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rows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(no orphan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students)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tIns="36576" rIns="0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Query 1 checks Marks_Obtained against Max_Marks; query 2 checks every student has a valid department.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98FFC-4521-187D-DD71-35F1B5453EE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B59581-B6CE-26E2-D89C-E6EF7430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304800"/>
            <a:ext cx="9686715" cy="61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2783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FFBD1C-88C8-BE34-8728-707F0E48F3D1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D43B20-A5AA-DC78-90D2-46E573379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241300"/>
            <a:ext cx="9563100" cy="637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381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</TotalTime>
  <Words>3219</Words>
  <Application>Microsoft Office PowerPoint</Application>
  <PresentationFormat>Widescreen</PresentationFormat>
  <Paragraphs>790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 Rounded MT Bold</vt:lpstr>
      <vt:lpstr>Courier New</vt:lpstr>
      <vt:lpstr>Arial Black</vt:lpstr>
      <vt:lpstr>Artifakt Element Heavy</vt:lpstr>
      <vt:lpstr>Times New Roman</vt:lpstr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Adarsh siddharth.</cp:lastModifiedBy>
  <cp:revision>90</cp:revision>
  <cp:lastPrinted>2025-09-02T05:24:44Z</cp:lastPrinted>
  <dcterms:created xsi:type="dcterms:W3CDTF">2025-05-29T13:02:32Z</dcterms:created>
  <dcterms:modified xsi:type="dcterms:W3CDTF">2026-10-05T09:46:01Z</dcterms:modified>
</cp:coreProperties>
</file>